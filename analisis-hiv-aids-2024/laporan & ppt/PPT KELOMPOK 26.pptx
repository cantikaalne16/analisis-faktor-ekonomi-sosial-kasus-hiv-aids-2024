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Intro Rust" charset="1" panose="00000500000000000000"/>
      <p:regular r:id="rId20"/>
    </p:embeddedFont>
    <p:embeddedFont>
      <p:font typeface="Quicksand Bold" charset="1" panose="00000000000000000000"/>
      <p:regular r:id="rId21"/>
    </p:embeddedFont>
    <p:embeddedFont>
      <p:font typeface="Quicksand" charset="1" panose="00000000000000000000"/>
      <p:regular r:id="rId22"/>
    </p:embeddedFont>
    <p:embeddedFont>
      <p:font typeface="Open Sauce"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https://colab.research.google.com/drive/10vMy0Q1iQNwihAEJUi0NXBZSw9qiSWSz?usp=sharin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2663340" y="8913681"/>
            <a:ext cx="5058556" cy="757503"/>
            <a:chOff x="0" y="0"/>
            <a:chExt cx="1332295" cy="199507"/>
          </a:xfrm>
        </p:grpSpPr>
        <p:sp>
          <p:nvSpPr>
            <p:cNvPr name="Freeform 3" id="3"/>
            <p:cNvSpPr/>
            <p:nvPr/>
          </p:nvSpPr>
          <p:spPr>
            <a:xfrm flipH="false" flipV="false" rot="0">
              <a:off x="0" y="0"/>
              <a:ext cx="1332295" cy="199507"/>
            </a:xfrm>
            <a:custGeom>
              <a:avLst/>
              <a:gdLst/>
              <a:ahLst/>
              <a:cxnLst/>
              <a:rect r="r" b="b" t="t" l="l"/>
              <a:pathLst>
                <a:path h="199507" w="1332295">
                  <a:moveTo>
                    <a:pt x="78053" y="0"/>
                  </a:moveTo>
                  <a:lnTo>
                    <a:pt x="1254241" y="0"/>
                  </a:lnTo>
                  <a:cubicBezTo>
                    <a:pt x="1274942" y="0"/>
                    <a:pt x="1294795" y="8223"/>
                    <a:pt x="1309433" y="22861"/>
                  </a:cubicBezTo>
                  <a:cubicBezTo>
                    <a:pt x="1324071" y="37499"/>
                    <a:pt x="1332295" y="57352"/>
                    <a:pt x="1332295" y="78053"/>
                  </a:cubicBezTo>
                  <a:lnTo>
                    <a:pt x="1332295" y="121453"/>
                  </a:lnTo>
                  <a:cubicBezTo>
                    <a:pt x="1332295" y="142154"/>
                    <a:pt x="1324071" y="162008"/>
                    <a:pt x="1309433" y="176646"/>
                  </a:cubicBezTo>
                  <a:cubicBezTo>
                    <a:pt x="1294795" y="191283"/>
                    <a:pt x="1274942" y="199507"/>
                    <a:pt x="1254241" y="199507"/>
                  </a:cubicBezTo>
                  <a:lnTo>
                    <a:pt x="78053" y="199507"/>
                  </a:lnTo>
                  <a:cubicBezTo>
                    <a:pt x="57352" y="199507"/>
                    <a:pt x="37499" y="191283"/>
                    <a:pt x="22861" y="176646"/>
                  </a:cubicBezTo>
                  <a:cubicBezTo>
                    <a:pt x="8223" y="162008"/>
                    <a:pt x="0" y="142154"/>
                    <a:pt x="0" y="121453"/>
                  </a:cubicBezTo>
                  <a:lnTo>
                    <a:pt x="0" y="78053"/>
                  </a:lnTo>
                  <a:cubicBezTo>
                    <a:pt x="0" y="57352"/>
                    <a:pt x="8223" y="37499"/>
                    <a:pt x="22861" y="22861"/>
                  </a:cubicBezTo>
                  <a:cubicBezTo>
                    <a:pt x="37499" y="8223"/>
                    <a:pt x="57352" y="0"/>
                    <a:pt x="78053" y="0"/>
                  </a:cubicBezTo>
                  <a:close/>
                </a:path>
              </a:pathLst>
            </a:custGeom>
            <a:solidFill>
              <a:srgbClr val="EB643E"/>
            </a:solidFill>
          </p:spPr>
        </p:sp>
        <p:sp>
          <p:nvSpPr>
            <p:cNvPr name="TextBox 4" id="4"/>
            <p:cNvSpPr txBox="true"/>
            <p:nvPr/>
          </p:nvSpPr>
          <p:spPr>
            <a:xfrm>
              <a:off x="0" y="-47625"/>
              <a:ext cx="1332295" cy="24713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298111" y="5143500"/>
            <a:ext cx="10259944" cy="1025994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13544214" y="2445278"/>
            <a:ext cx="5628625" cy="5396445"/>
          </a:xfrm>
          <a:custGeom>
            <a:avLst/>
            <a:gdLst/>
            <a:ahLst/>
            <a:cxnLst/>
            <a:rect r="r" b="b" t="t" l="l"/>
            <a:pathLst>
              <a:path h="5396445" w="5628625">
                <a:moveTo>
                  <a:pt x="0" y="0"/>
                </a:moveTo>
                <a:lnTo>
                  <a:pt x="5628625" y="0"/>
                </a:lnTo>
                <a:lnTo>
                  <a:pt x="5628625" y="5396444"/>
                </a:lnTo>
                <a:lnTo>
                  <a:pt x="0" y="5396444"/>
                </a:lnTo>
                <a:lnTo>
                  <a:pt x="0" y="0"/>
                </a:lnTo>
                <a:close/>
              </a:path>
            </a:pathLst>
          </a:custGeom>
          <a:blipFill>
            <a:blip r:embed="rId2"/>
            <a:stretch>
              <a:fillRect l="0" t="0" r="0" b="0"/>
            </a:stretch>
          </a:blipFill>
        </p:spPr>
      </p:sp>
      <p:sp>
        <p:nvSpPr>
          <p:cNvPr name="AutoShape 9" id="9"/>
          <p:cNvSpPr/>
          <p:nvPr/>
        </p:nvSpPr>
        <p:spPr>
          <a:xfrm>
            <a:off x="-1666817" y="9680708"/>
            <a:ext cx="3333634" cy="0"/>
          </a:xfrm>
          <a:prstGeom prst="line">
            <a:avLst/>
          </a:prstGeom>
          <a:ln cap="flat" w="19050">
            <a:solidFill>
              <a:srgbClr val="19345D"/>
            </a:solidFill>
            <a:prstDash val="solid"/>
            <a:headEnd type="none" len="sm" w="sm"/>
            <a:tailEnd type="none" len="sm" w="sm"/>
          </a:ln>
        </p:spPr>
      </p:sp>
      <p:sp>
        <p:nvSpPr>
          <p:cNvPr name="Freeform 10" id="10"/>
          <p:cNvSpPr/>
          <p:nvPr/>
        </p:nvSpPr>
        <p:spPr>
          <a:xfrm flipH="false" flipV="false" rot="0">
            <a:off x="13890527" y="7991596"/>
            <a:ext cx="1689112" cy="1689112"/>
          </a:xfrm>
          <a:custGeom>
            <a:avLst/>
            <a:gdLst/>
            <a:ahLst/>
            <a:cxnLst/>
            <a:rect r="r" b="b" t="t" l="l"/>
            <a:pathLst>
              <a:path h="1689112" w="1689112">
                <a:moveTo>
                  <a:pt x="0" y="0"/>
                </a:moveTo>
                <a:lnTo>
                  <a:pt x="1689112" y="0"/>
                </a:lnTo>
                <a:lnTo>
                  <a:pt x="1689112" y="1689112"/>
                </a:lnTo>
                <a:lnTo>
                  <a:pt x="0" y="16891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28700" y="2477929"/>
            <a:ext cx="11497164" cy="4504690"/>
          </a:xfrm>
          <a:prstGeom prst="rect">
            <a:avLst/>
          </a:prstGeom>
        </p:spPr>
        <p:txBody>
          <a:bodyPr anchor="t" rtlCol="false" tIns="0" lIns="0" bIns="0" rIns="0">
            <a:spAutoFit/>
          </a:bodyPr>
          <a:lstStyle/>
          <a:p>
            <a:pPr algn="l">
              <a:lnSpc>
                <a:spcPts val="8959"/>
              </a:lnSpc>
              <a:spcBef>
                <a:spcPct val="0"/>
              </a:spcBef>
            </a:pPr>
            <a:r>
              <a:rPr lang="en-US" sz="6399">
                <a:solidFill>
                  <a:srgbClr val="19345D"/>
                </a:solidFill>
                <a:latin typeface="Intro Rust"/>
                <a:ea typeface="Intro Rust"/>
                <a:cs typeface="Intro Rust"/>
                <a:sym typeface="Intro Rust"/>
              </a:rPr>
              <a:t>ANALISIS FAKTOR SOSIAL EKONOMI TERHADAP KASUS HIV &amp; AIDS DI INDONESIA TAHUN 2024</a:t>
            </a:r>
          </a:p>
        </p:txBody>
      </p:sp>
      <p:sp>
        <p:nvSpPr>
          <p:cNvPr name="TextBox 12" id="12"/>
          <p:cNvSpPr txBox="true"/>
          <p:nvPr/>
        </p:nvSpPr>
        <p:spPr>
          <a:xfrm rot="0">
            <a:off x="1028700" y="1542394"/>
            <a:ext cx="8327837" cy="662941"/>
          </a:xfrm>
          <a:prstGeom prst="rect">
            <a:avLst/>
          </a:prstGeom>
        </p:spPr>
        <p:txBody>
          <a:bodyPr anchor="t" rtlCol="false" tIns="0" lIns="0" bIns="0" rIns="0">
            <a:spAutoFit/>
          </a:bodyPr>
          <a:lstStyle/>
          <a:p>
            <a:pPr algn="l">
              <a:lnSpc>
                <a:spcPts val="5459"/>
              </a:lnSpc>
              <a:spcBef>
                <a:spcPct val="0"/>
              </a:spcBef>
            </a:pPr>
            <a:r>
              <a:rPr lang="en-US" b="true" sz="3899">
                <a:solidFill>
                  <a:srgbClr val="000000"/>
                </a:solidFill>
                <a:latin typeface="Quicksand Bold"/>
                <a:ea typeface="Quicksand Bold"/>
                <a:cs typeface="Quicksand Bold"/>
                <a:sym typeface="Quicksand Bold"/>
              </a:rPr>
              <a:t>Proyek Akhir Data Wrangling</a:t>
            </a:r>
          </a:p>
        </p:txBody>
      </p:sp>
      <p:sp>
        <p:nvSpPr>
          <p:cNvPr name="TextBox 13" id="13"/>
          <p:cNvSpPr txBox="true"/>
          <p:nvPr/>
        </p:nvSpPr>
        <p:spPr>
          <a:xfrm rot="0">
            <a:off x="3412026" y="9011444"/>
            <a:ext cx="3561186" cy="504825"/>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Quicksand Bold"/>
                <a:ea typeface="Quicksand Bold"/>
                <a:cs typeface="Quicksand Bold"/>
                <a:sym typeface="Quicksand Bold"/>
              </a:rPr>
              <a:t>Kelompok 26</a:t>
            </a:r>
          </a:p>
        </p:txBody>
      </p:sp>
      <p:sp>
        <p:nvSpPr>
          <p:cNvPr name="TextBox 14" id="14"/>
          <p:cNvSpPr txBox="true"/>
          <p:nvPr/>
        </p:nvSpPr>
        <p:spPr>
          <a:xfrm rot="0">
            <a:off x="1028700" y="6792119"/>
            <a:ext cx="8327837" cy="2657475"/>
          </a:xfrm>
          <a:prstGeom prst="rect">
            <a:avLst/>
          </a:prstGeom>
        </p:spPr>
        <p:txBody>
          <a:bodyPr anchor="t" rtlCol="false" tIns="0" lIns="0" bIns="0" rIns="0">
            <a:spAutoFit/>
          </a:bodyPr>
          <a:lstStyle/>
          <a:p>
            <a:pPr algn="l">
              <a:lnSpc>
                <a:spcPts val="4200"/>
              </a:lnSpc>
            </a:pPr>
          </a:p>
          <a:p>
            <a:pPr algn="l">
              <a:lnSpc>
                <a:spcPts val="4200"/>
              </a:lnSpc>
            </a:pPr>
            <a:r>
              <a:rPr lang="en-US" sz="3000" b="true">
                <a:solidFill>
                  <a:srgbClr val="000000"/>
                </a:solidFill>
                <a:latin typeface="Quicksand Bold"/>
                <a:ea typeface="Quicksand Bold"/>
                <a:cs typeface="Quicksand Bold"/>
                <a:sym typeface="Quicksand Bold"/>
              </a:rPr>
              <a:t>Dose</a:t>
            </a:r>
            <a:r>
              <a:rPr lang="en-US" sz="3000" b="true">
                <a:solidFill>
                  <a:srgbClr val="000000"/>
                </a:solidFill>
                <a:latin typeface="Quicksand Bold"/>
                <a:ea typeface="Quicksand Bold"/>
                <a:cs typeface="Quicksand Bold"/>
                <a:sym typeface="Quicksand Bold"/>
              </a:rPr>
              <a:t>n Pengampu:</a:t>
            </a:r>
          </a:p>
          <a:p>
            <a:pPr algn="l">
              <a:lnSpc>
                <a:spcPts val="4200"/>
              </a:lnSpc>
            </a:pPr>
            <a:r>
              <a:rPr lang="en-US" sz="3000" b="true">
                <a:solidFill>
                  <a:srgbClr val="000000"/>
                </a:solidFill>
                <a:latin typeface="Quicksand Bold"/>
                <a:ea typeface="Quicksand Bold"/>
                <a:cs typeface="Quicksand Bold"/>
                <a:sym typeface="Quicksand Bold"/>
              </a:rPr>
              <a:t>Bu Ulfa Siti Nuraini, S.Stat., M.Stat. </a:t>
            </a:r>
          </a:p>
          <a:p>
            <a:pPr algn="l">
              <a:lnSpc>
                <a:spcPts val="4200"/>
              </a:lnSpc>
            </a:pPr>
          </a:p>
          <a:p>
            <a:pPr algn="l">
              <a:lnSpc>
                <a:spcPts val="4200"/>
              </a:lnSpc>
              <a:spcBef>
                <a:spcPct val="0"/>
              </a:spcBef>
            </a:pPr>
          </a:p>
        </p:txBody>
      </p:sp>
      <p:sp>
        <p:nvSpPr>
          <p:cNvPr name="Freeform 15" id="15"/>
          <p:cNvSpPr/>
          <p:nvPr/>
        </p:nvSpPr>
        <p:spPr>
          <a:xfrm flipH="false" flipV="false" rot="0">
            <a:off x="1112726" y="259050"/>
            <a:ext cx="960696" cy="1054744"/>
          </a:xfrm>
          <a:custGeom>
            <a:avLst/>
            <a:gdLst/>
            <a:ahLst/>
            <a:cxnLst/>
            <a:rect r="r" b="b" t="t" l="l"/>
            <a:pathLst>
              <a:path h="1054744" w="960696">
                <a:moveTo>
                  <a:pt x="0" y="0"/>
                </a:moveTo>
                <a:lnTo>
                  <a:pt x="960696" y="0"/>
                </a:lnTo>
                <a:lnTo>
                  <a:pt x="960696" y="1054744"/>
                </a:lnTo>
                <a:lnTo>
                  <a:pt x="0" y="1054744"/>
                </a:lnTo>
                <a:lnTo>
                  <a:pt x="0" y="0"/>
                </a:lnTo>
                <a:close/>
              </a:path>
            </a:pathLst>
          </a:custGeom>
          <a:blipFill>
            <a:blip r:embed="rId5"/>
            <a:stretch>
              <a:fillRect l="0" t="0" r="0" b="0"/>
            </a:stretch>
          </a:blipFill>
        </p:spPr>
      </p:sp>
      <p:sp>
        <p:nvSpPr>
          <p:cNvPr name="TextBox 16" id="16"/>
          <p:cNvSpPr txBox="true"/>
          <p:nvPr/>
        </p:nvSpPr>
        <p:spPr>
          <a:xfrm rot="0">
            <a:off x="2529990" y="377169"/>
            <a:ext cx="5856820" cy="860425"/>
          </a:xfrm>
          <a:prstGeom prst="rect">
            <a:avLst/>
          </a:prstGeom>
        </p:spPr>
        <p:txBody>
          <a:bodyPr anchor="t" rtlCol="false" tIns="0" lIns="0" bIns="0" rIns="0">
            <a:spAutoFit/>
          </a:bodyPr>
          <a:lstStyle/>
          <a:p>
            <a:pPr algn="l">
              <a:lnSpc>
                <a:spcPts val="3499"/>
              </a:lnSpc>
            </a:pPr>
            <a:r>
              <a:rPr lang="en-US" sz="2499">
                <a:solidFill>
                  <a:srgbClr val="000000"/>
                </a:solidFill>
                <a:latin typeface="Quicksand"/>
                <a:ea typeface="Quicksand"/>
                <a:cs typeface="Quicksand"/>
                <a:sym typeface="Quicksand"/>
              </a:rPr>
              <a:t>Data Wrangling | S1 Sains Data Universitas Negeri Surabaya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028700" y="3660935"/>
            <a:ext cx="16230600" cy="2937111"/>
            <a:chOff x="0" y="0"/>
            <a:chExt cx="3757493" cy="679961"/>
          </a:xfrm>
        </p:grpSpPr>
        <p:sp>
          <p:nvSpPr>
            <p:cNvPr name="Freeform 3" id="3"/>
            <p:cNvSpPr/>
            <p:nvPr/>
          </p:nvSpPr>
          <p:spPr>
            <a:xfrm flipH="false" flipV="false" rot="0">
              <a:off x="0" y="0"/>
              <a:ext cx="3757493" cy="679961"/>
            </a:xfrm>
            <a:custGeom>
              <a:avLst/>
              <a:gdLst/>
              <a:ahLst/>
              <a:cxnLst/>
              <a:rect r="r" b="b" t="t" l="l"/>
              <a:pathLst>
                <a:path h="679961" w="3757493">
                  <a:moveTo>
                    <a:pt x="24327" y="0"/>
                  </a:moveTo>
                  <a:lnTo>
                    <a:pt x="3733166" y="0"/>
                  </a:lnTo>
                  <a:cubicBezTo>
                    <a:pt x="3739618" y="0"/>
                    <a:pt x="3745806" y="2563"/>
                    <a:pt x="3750368" y="7125"/>
                  </a:cubicBezTo>
                  <a:cubicBezTo>
                    <a:pt x="3754930" y="11687"/>
                    <a:pt x="3757493" y="17875"/>
                    <a:pt x="3757493" y="24327"/>
                  </a:cubicBezTo>
                  <a:lnTo>
                    <a:pt x="3757493" y="655634"/>
                  </a:lnTo>
                  <a:cubicBezTo>
                    <a:pt x="3757493" y="669070"/>
                    <a:pt x="3746602" y="679961"/>
                    <a:pt x="3733166" y="679961"/>
                  </a:cubicBezTo>
                  <a:lnTo>
                    <a:pt x="24327" y="679961"/>
                  </a:lnTo>
                  <a:cubicBezTo>
                    <a:pt x="10891" y="679961"/>
                    <a:pt x="0" y="669070"/>
                    <a:pt x="0" y="655634"/>
                  </a:cubicBezTo>
                  <a:lnTo>
                    <a:pt x="0" y="24327"/>
                  </a:lnTo>
                  <a:cubicBezTo>
                    <a:pt x="0" y="10891"/>
                    <a:pt x="10891" y="0"/>
                    <a:pt x="24327" y="0"/>
                  </a:cubicBezTo>
                  <a:close/>
                </a:path>
              </a:pathLst>
            </a:custGeom>
            <a:solidFill>
              <a:srgbClr val="FFFFFF"/>
            </a:solidFill>
          </p:spPr>
        </p:sp>
        <p:sp>
          <p:nvSpPr>
            <p:cNvPr name="TextBox 4" id="4"/>
            <p:cNvSpPr txBox="true"/>
            <p:nvPr/>
          </p:nvSpPr>
          <p:spPr>
            <a:xfrm>
              <a:off x="0" y="-47625"/>
              <a:ext cx="3757493" cy="72758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757696" y="3230047"/>
            <a:ext cx="6772607" cy="861776"/>
            <a:chOff x="0" y="0"/>
            <a:chExt cx="1567904" cy="199507"/>
          </a:xfrm>
        </p:grpSpPr>
        <p:sp>
          <p:nvSpPr>
            <p:cNvPr name="Freeform 6" id="6"/>
            <p:cNvSpPr/>
            <p:nvPr/>
          </p:nvSpPr>
          <p:spPr>
            <a:xfrm flipH="false" flipV="false" rot="0">
              <a:off x="0" y="0"/>
              <a:ext cx="1567904" cy="199507"/>
            </a:xfrm>
            <a:custGeom>
              <a:avLst/>
              <a:gdLst/>
              <a:ahLst/>
              <a:cxnLst/>
              <a:rect r="r" b="b" t="t" l="l"/>
              <a:pathLst>
                <a:path h="199507" w="1567904">
                  <a:moveTo>
                    <a:pt x="58299" y="0"/>
                  </a:moveTo>
                  <a:lnTo>
                    <a:pt x="1509605" y="0"/>
                  </a:lnTo>
                  <a:cubicBezTo>
                    <a:pt x="1541803" y="0"/>
                    <a:pt x="1567904" y="26101"/>
                    <a:pt x="1567904" y="58299"/>
                  </a:cubicBezTo>
                  <a:lnTo>
                    <a:pt x="1567904" y="141208"/>
                  </a:lnTo>
                  <a:cubicBezTo>
                    <a:pt x="1567904" y="173405"/>
                    <a:pt x="1541803" y="199507"/>
                    <a:pt x="1509605" y="199507"/>
                  </a:cubicBezTo>
                  <a:lnTo>
                    <a:pt x="58299" y="199507"/>
                  </a:lnTo>
                  <a:cubicBezTo>
                    <a:pt x="42837" y="199507"/>
                    <a:pt x="28009" y="193365"/>
                    <a:pt x="17075" y="182431"/>
                  </a:cubicBezTo>
                  <a:cubicBezTo>
                    <a:pt x="6142" y="171498"/>
                    <a:pt x="0" y="156670"/>
                    <a:pt x="0" y="141208"/>
                  </a:cubicBezTo>
                  <a:lnTo>
                    <a:pt x="0" y="58299"/>
                  </a:lnTo>
                  <a:cubicBezTo>
                    <a:pt x="0" y="26101"/>
                    <a:pt x="26101" y="0"/>
                    <a:pt x="58299" y="0"/>
                  </a:cubicBezTo>
                  <a:close/>
                </a:path>
              </a:pathLst>
            </a:custGeom>
            <a:solidFill>
              <a:srgbClr val="EB643E"/>
            </a:solidFill>
          </p:spPr>
        </p:sp>
        <p:sp>
          <p:nvSpPr>
            <p:cNvPr name="TextBox 7" id="7"/>
            <p:cNvSpPr txBox="true"/>
            <p:nvPr/>
          </p:nvSpPr>
          <p:spPr>
            <a:xfrm>
              <a:off x="0" y="-47625"/>
              <a:ext cx="1567904" cy="24713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924576" y="7125105"/>
            <a:ext cx="1846199" cy="1874314"/>
          </a:xfrm>
          <a:custGeom>
            <a:avLst/>
            <a:gdLst/>
            <a:ahLst/>
            <a:cxnLst/>
            <a:rect r="r" b="b" t="t" l="l"/>
            <a:pathLst>
              <a:path h="1874314" w="1846199">
                <a:moveTo>
                  <a:pt x="0" y="0"/>
                </a:moveTo>
                <a:lnTo>
                  <a:pt x="1846199" y="0"/>
                </a:lnTo>
                <a:lnTo>
                  <a:pt x="1846199" y="1874314"/>
                </a:lnTo>
                <a:lnTo>
                  <a:pt x="0" y="18743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30572" y="-1998724"/>
            <a:ext cx="3655752" cy="3504952"/>
          </a:xfrm>
          <a:custGeom>
            <a:avLst/>
            <a:gdLst/>
            <a:ahLst/>
            <a:cxnLst/>
            <a:rect r="r" b="b" t="t" l="l"/>
            <a:pathLst>
              <a:path h="3504952" w="3655752">
                <a:moveTo>
                  <a:pt x="0" y="0"/>
                </a:moveTo>
                <a:lnTo>
                  <a:pt x="3655753" y="0"/>
                </a:lnTo>
                <a:lnTo>
                  <a:pt x="3655753" y="3504952"/>
                </a:lnTo>
                <a:lnTo>
                  <a:pt x="0" y="3504952"/>
                </a:lnTo>
                <a:lnTo>
                  <a:pt x="0" y="0"/>
                </a:lnTo>
                <a:close/>
              </a:path>
            </a:pathLst>
          </a:custGeom>
          <a:blipFill>
            <a:blip r:embed="rId4"/>
            <a:stretch>
              <a:fillRect l="0" t="0" r="0" b="0"/>
            </a:stretch>
          </a:blipFill>
        </p:spPr>
      </p:sp>
      <p:grpSp>
        <p:nvGrpSpPr>
          <p:cNvPr name="Group 10" id="10"/>
          <p:cNvGrpSpPr/>
          <p:nvPr/>
        </p:nvGrpSpPr>
        <p:grpSpPr>
          <a:xfrm rot="0">
            <a:off x="16471681" y="8780344"/>
            <a:ext cx="3632637" cy="363263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345D"/>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AutoShape 13" id="13"/>
          <p:cNvSpPr/>
          <p:nvPr/>
        </p:nvSpPr>
        <p:spPr>
          <a:xfrm flipV="true">
            <a:off x="-337341" y="9613788"/>
            <a:ext cx="1366041" cy="0"/>
          </a:xfrm>
          <a:prstGeom prst="line">
            <a:avLst/>
          </a:prstGeom>
          <a:ln cap="flat" w="19050">
            <a:solidFill>
              <a:srgbClr val="19345D"/>
            </a:solidFill>
            <a:prstDash val="solid"/>
            <a:headEnd type="none" len="sm" w="sm"/>
            <a:tailEnd type="none" len="sm" w="sm"/>
          </a:ln>
        </p:spPr>
      </p:sp>
      <p:sp>
        <p:nvSpPr>
          <p:cNvPr name="AutoShape 14" id="14"/>
          <p:cNvSpPr/>
          <p:nvPr/>
        </p:nvSpPr>
        <p:spPr>
          <a:xfrm>
            <a:off x="17259300" y="1038225"/>
            <a:ext cx="1366041" cy="0"/>
          </a:xfrm>
          <a:prstGeom prst="line">
            <a:avLst/>
          </a:prstGeom>
          <a:ln cap="flat" w="19050">
            <a:solidFill>
              <a:srgbClr val="19345D"/>
            </a:solidFill>
            <a:prstDash val="solid"/>
            <a:headEnd type="none" len="sm" w="sm"/>
            <a:tailEnd type="none" len="sm" w="sm"/>
          </a:ln>
        </p:spPr>
      </p:sp>
      <p:sp>
        <p:nvSpPr>
          <p:cNvPr name="TextBox 15" id="15"/>
          <p:cNvSpPr txBox="true"/>
          <p:nvPr/>
        </p:nvSpPr>
        <p:spPr>
          <a:xfrm rot="0">
            <a:off x="4434037" y="4293571"/>
            <a:ext cx="9419925" cy="1682750"/>
          </a:xfrm>
          <a:prstGeom prst="rect">
            <a:avLst/>
          </a:prstGeom>
        </p:spPr>
        <p:txBody>
          <a:bodyPr anchor="t" rtlCol="false" tIns="0" lIns="0" bIns="0" rIns="0">
            <a:spAutoFit/>
          </a:bodyPr>
          <a:lstStyle/>
          <a:p>
            <a:pPr algn="just" marL="755651" indent="-377825" lvl="1">
              <a:lnSpc>
                <a:spcPts val="7000"/>
              </a:lnSpc>
              <a:buAutoNum type="arabicPeriod" startAt="1"/>
            </a:pPr>
            <a:r>
              <a:rPr lang="en-US" b="true" sz="3500">
                <a:solidFill>
                  <a:srgbClr val="000000"/>
                </a:solidFill>
                <a:latin typeface="Quicksand Bold"/>
                <a:ea typeface="Quicksand Bold"/>
                <a:cs typeface="Quicksand Bold"/>
                <a:sym typeface="Quicksand Bold"/>
              </a:rPr>
              <a:t>Adisti Eka Nabila (24031554119)</a:t>
            </a:r>
          </a:p>
          <a:p>
            <a:pPr algn="just" marL="755651" indent="-377825" lvl="1">
              <a:lnSpc>
                <a:spcPts val="7000"/>
              </a:lnSpc>
              <a:buAutoNum type="arabicPeriod" startAt="1"/>
            </a:pPr>
            <a:r>
              <a:rPr lang="en-US" b="true" sz="3500">
                <a:solidFill>
                  <a:srgbClr val="000000"/>
                </a:solidFill>
                <a:latin typeface="Quicksand Bold"/>
                <a:ea typeface="Quicksand Bold"/>
                <a:cs typeface="Quicksand Bold"/>
                <a:sym typeface="Quicksand Bold"/>
              </a:rPr>
              <a:t>Cantika Latifatul Nur Ella (24031554023)</a:t>
            </a:r>
          </a:p>
        </p:txBody>
      </p:sp>
      <p:sp>
        <p:nvSpPr>
          <p:cNvPr name="TextBox 16" id="16"/>
          <p:cNvSpPr txBox="true"/>
          <p:nvPr/>
        </p:nvSpPr>
        <p:spPr>
          <a:xfrm rot="0">
            <a:off x="6169085" y="3319623"/>
            <a:ext cx="5949831" cy="606425"/>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Intro Rust"/>
                <a:ea typeface="Intro Rust"/>
                <a:cs typeface="Intro Rust"/>
                <a:sym typeface="Intro Rust"/>
              </a:rPr>
              <a:t>Disusun oleh: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028700" y="2206389"/>
            <a:ext cx="16230600" cy="5979554"/>
            <a:chOff x="0" y="0"/>
            <a:chExt cx="3757493" cy="1384307"/>
          </a:xfrm>
        </p:grpSpPr>
        <p:sp>
          <p:nvSpPr>
            <p:cNvPr name="Freeform 3" id="3"/>
            <p:cNvSpPr/>
            <p:nvPr/>
          </p:nvSpPr>
          <p:spPr>
            <a:xfrm flipH="false" flipV="false" rot="0">
              <a:off x="0" y="0"/>
              <a:ext cx="3757493" cy="1384307"/>
            </a:xfrm>
            <a:custGeom>
              <a:avLst/>
              <a:gdLst/>
              <a:ahLst/>
              <a:cxnLst/>
              <a:rect r="r" b="b" t="t" l="l"/>
              <a:pathLst>
                <a:path h="1384307" w="3757493">
                  <a:moveTo>
                    <a:pt x="24327" y="0"/>
                  </a:moveTo>
                  <a:lnTo>
                    <a:pt x="3733166" y="0"/>
                  </a:lnTo>
                  <a:cubicBezTo>
                    <a:pt x="3739618" y="0"/>
                    <a:pt x="3745806" y="2563"/>
                    <a:pt x="3750368" y="7125"/>
                  </a:cubicBezTo>
                  <a:cubicBezTo>
                    <a:pt x="3754930" y="11687"/>
                    <a:pt x="3757493" y="17875"/>
                    <a:pt x="3757493" y="24327"/>
                  </a:cubicBezTo>
                  <a:lnTo>
                    <a:pt x="3757493" y="1359980"/>
                  </a:lnTo>
                  <a:cubicBezTo>
                    <a:pt x="3757493" y="1373416"/>
                    <a:pt x="3746602" y="1384307"/>
                    <a:pt x="3733166" y="1384307"/>
                  </a:cubicBezTo>
                  <a:lnTo>
                    <a:pt x="24327" y="1384307"/>
                  </a:lnTo>
                  <a:cubicBezTo>
                    <a:pt x="10891" y="1384307"/>
                    <a:pt x="0" y="1373416"/>
                    <a:pt x="0" y="1359980"/>
                  </a:cubicBezTo>
                  <a:lnTo>
                    <a:pt x="0" y="24327"/>
                  </a:lnTo>
                  <a:cubicBezTo>
                    <a:pt x="0" y="10891"/>
                    <a:pt x="10891" y="0"/>
                    <a:pt x="24327" y="0"/>
                  </a:cubicBezTo>
                  <a:close/>
                </a:path>
              </a:pathLst>
            </a:custGeom>
            <a:solidFill>
              <a:srgbClr val="FFFFFF"/>
            </a:solidFill>
          </p:spPr>
        </p:sp>
        <p:sp>
          <p:nvSpPr>
            <p:cNvPr name="TextBox 4" id="4"/>
            <p:cNvSpPr txBox="true"/>
            <p:nvPr/>
          </p:nvSpPr>
          <p:spPr>
            <a:xfrm>
              <a:off x="0" y="-47625"/>
              <a:ext cx="3757493" cy="143193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757696" y="1775501"/>
            <a:ext cx="6772607" cy="861776"/>
            <a:chOff x="0" y="0"/>
            <a:chExt cx="1567904" cy="199507"/>
          </a:xfrm>
        </p:grpSpPr>
        <p:sp>
          <p:nvSpPr>
            <p:cNvPr name="Freeform 6" id="6"/>
            <p:cNvSpPr/>
            <p:nvPr/>
          </p:nvSpPr>
          <p:spPr>
            <a:xfrm flipH="false" flipV="false" rot="0">
              <a:off x="0" y="0"/>
              <a:ext cx="1567904" cy="199507"/>
            </a:xfrm>
            <a:custGeom>
              <a:avLst/>
              <a:gdLst/>
              <a:ahLst/>
              <a:cxnLst/>
              <a:rect r="r" b="b" t="t" l="l"/>
              <a:pathLst>
                <a:path h="199507" w="1567904">
                  <a:moveTo>
                    <a:pt x="58299" y="0"/>
                  </a:moveTo>
                  <a:lnTo>
                    <a:pt x="1509605" y="0"/>
                  </a:lnTo>
                  <a:cubicBezTo>
                    <a:pt x="1541803" y="0"/>
                    <a:pt x="1567904" y="26101"/>
                    <a:pt x="1567904" y="58299"/>
                  </a:cubicBezTo>
                  <a:lnTo>
                    <a:pt x="1567904" y="141208"/>
                  </a:lnTo>
                  <a:cubicBezTo>
                    <a:pt x="1567904" y="173405"/>
                    <a:pt x="1541803" y="199507"/>
                    <a:pt x="1509605" y="199507"/>
                  </a:cubicBezTo>
                  <a:lnTo>
                    <a:pt x="58299" y="199507"/>
                  </a:lnTo>
                  <a:cubicBezTo>
                    <a:pt x="42837" y="199507"/>
                    <a:pt x="28009" y="193365"/>
                    <a:pt x="17075" y="182431"/>
                  </a:cubicBezTo>
                  <a:cubicBezTo>
                    <a:pt x="6142" y="171498"/>
                    <a:pt x="0" y="156670"/>
                    <a:pt x="0" y="141208"/>
                  </a:cubicBezTo>
                  <a:lnTo>
                    <a:pt x="0" y="58299"/>
                  </a:lnTo>
                  <a:cubicBezTo>
                    <a:pt x="0" y="26101"/>
                    <a:pt x="26101" y="0"/>
                    <a:pt x="58299" y="0"/>
                  </a:cubicBezTo>
                  <a:close/>
                </a:path>
              </a:pathLst>
            </a:custGeom>
            <a:solidFill>
              <a:srgbClr val="EB643E"/>
            </a:solidFill>
          </p:spPr>
        </p:sp>
        <p:sp>
          <p:nvSpPr>
            <p:cNvPr name="TextBox 7" id="7"/>
            <p:cNvSpPr txBox="true"/>
            <p:nvPr/>
          </p:nvSpPr>
          <p:spPr>
            <a:xfrm>
              <a:off x="0" y="-47625"/>
              <a:ext cx="1567904" cy="24713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924576" y="7125105"/>
            <a:ext cx="1846199" cy="1874314"/>
          </a:xfrm>
          <a:custGeom>
            <a:avLst/>
            <a:gdLst/>
            <a:ahLst/>
            <a:cxnLst/>
            <a:rect r="r" b="b" t="t" l="l"/>
            <a:pathLst>
              <a:path h="1874314" w="1846199">
                <a:moveTo>
                  <a:pt x="0" y="0"/>
                </a:moveTo>
                <a:lnTo>
                  <a:pt x="1846199" y="0"/>
                </a:lnTo>
                <a:lnTo>
                  <a:pt x="1846199" y="1874314"/>
                </a:lnTo>
                <a:lnTo>
                  <a:pt x="0" y="18743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30572" y="-1998724"/>
            <a:ext cx="3655752" cy="3504952"/>
          </a:xfrm>
          <a:custGeom>
            <a:avLst/>
            <a:gdLst/>
            <a:ahLst/>
            <a:cxnLst/>
            <a:rect r="r" b="b" t="t" l="l"/>
            <a:pathLst>
              <a:path h="3504952" w="3655752">
                <a:moveTo>
                  <a:pt x="0" y="0"/>
                </a:moveTo>
                <a:lnTo>
                  <a:pt x="3655753" y="0"/>
                </a:lnTo>
                <a:lnTo>
                  <a:pt x="3655753" y="3504952"/>
                </a:lnTo>
                <a:lnTo>
                  <a:pt x="0" y="3504952"/>
                </a:lnTo>
                <a:lnTo>
                  <a:pt x="0" y="0"/>
                </a:lnTo>
                <a:close/>
              </a:path>
            </a:pathLst>
          </a:custGeom>
          <a:blipFill>
            <a:blip r:embed="rId4"/>
            <a:stretch>
              <a:fillRect l="0" t="0" r="0" b="0"/>
            </a:stretch>
          </a:blipFill>
        </p:spPr>
      </p:sp>
      <p:grpSp>
        <p:nvGrpSpPr>
          <p:cNvPr name="Group 10" id="10"/>
          <p:cNvGrpSpPr/>
          <p:nvPr/>
        </p:nvGrpSpPr>
        <p:grpSpPr>
          <a:xfrm rot="0">
            <a:off x="16471681" y="8780344"/>
            <a:ext cx="3632637" cy="363263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345D"/>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AutoShape 13" id="13"/>
          <p:cNvSpPr/>
          <p:nvPr/>
        </p:nvSpPr>
        <p:spPr>
          <a:xfrm flipV="true">
            <a:off x="-337341" y="9613788"/>
            <a:ext cx="1366041" cy="0"/>
          </a:xfrm>
          <a:prstGeom prst="line">
            <a:avLst/>
          </a:prstGeom>
          <a:ln cap="flat" w="19050">
            <a:solidFill>
              <a:srgbClr val="19345D"/>
            </a:solidFill>
            <a:prstDash val="solid"/>
            <a:headEnd type="none" len="sm" w="sm"/>
            <a:tailEnd type="none" len="sm" w="sm"/>
          </a:ln>
        </p:spPr>
      </p:sp>
      <p:sp>
        <p:nvSpPr>
          <p:cNvPr name="AutoShape 14" id="14"/>
          <p:cNvSpPr/>
          <p:nvPr/>
        </p:nvSpPr>
        <p:spPr>
          <a:xfrm>
            <a:off x="17259300" y="1038225"/>
            <a:ext cx="1366041" cy="0"/>
          </a:xfrm>
          <a:prstGeom prst="line">
            <a:avLst/>
          </a:prstGeom>
          <a:ln cap="flat" w="19050">
            <a:solidFill>
              <a:srgbClr val="19345D"/>
            </a:solidFill>
            <a:prstDash val="solid"/>
            <a:headEnd type="none" len="sm" w="sm"/>
            <a:tailEnd type="none" len="sm" w="sm"/>
          </a:ln>
        </p:spPr>
      </p:sp>
      <p:sp>
        <p:nvSpPr>
          <p:cNvPr name="TextBox 15" id="15"/>
          <p:cNvSpPr txBox="true"/>
          <p:nvPr/>
        </p:nvSpPr>
        <p:spPr>
          <a:xfrm rot="0">
            <a:off x="1854276" y="2837301"/>
            <a:ext cx="14579448" cy="4311650"/>
          </a:xfrm>
          <a:prstGeom prst="rect">
            <a:avLst/>
          </a:prstGeom>
        </p:spPr>
        <p:txBody>
          <a:bodyPr anchor="t" rtlCol="false" tIns="0" lIns="0" bIns="0" rIns="0">
            <a:spAutoFit/>
          </a:bodyPr>
          <a:lstStyle/>
          <a:p>
            <a:pPr algn="just">
              <a:lnSpc>
                <a:spcPts val="4900"/>
              </a:lnSpc>
            </a:pPr>
            <a:r>
              <a:rPr lang="en-US" sz="3500">
                <a:solidFill>
                  <a:srgbClr val="000000"/>
                </a:solidFill>
                <a:latin typeface="Quicksand"/>
                <a:ea typeface="Quicksand"/>
                <a:cs typeface="Quicksand"/>
                <a:sym typeface="Quicksand"/>
              </a:rPr>
              <a:t>HIV/AIDS tetap menjadi masalah kesehatan di Indonesia dengan jumlah kasus HIV baru mencapai 63.707 dan AIDS 21.536. Faktor sosial ekonomi seperti kemiskinan, pendidikan rendah, dan pengangguran terbukti meningkatkan kerentanan terhadap HIV melalui tingginya perilaku berisiko dan rendahnya pemahaman pencegahan. Penelitian ini bertujuan menganalisis hubungan ketiga faktor tersebut dengan kasus HIV/AIDS di Indonesia tahun 2024.</a:t>
            </a:r>
          </a:p>
        </p:txBody>
      </p:sp>
      <p:sp>
        <p:nvSpPr>
          <p:cNvPr name="TextBox 16" id="16"/>
          <p:cNvSpPr txBox="true"/>
          <p:nvPr/>
        </p:nvSpPr>
        <p:spPr>
          <a:xfrm rot="0">
            <a:off x="6169085" y="1865076"/>
            <a:ext cx="5949831" cy="606425"/>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Intro Rust"/>
                <a:ea typeface="Intro Rust"/>
                <a:cs typeface="Intro Rust"/>
                <a:sym typeface="Intro Rust"/>
              </a:rPr>
              <a:t>Latar belakang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415933" y="1602417"/>
            <a:ext cx="13408500" cy="6766504"/>
            <a:chOff x="0" y="0"/>
            <a:chExt cx="3104158" cy="1566491"/>
          </a:xfrm>
        </p:grpSpPr>
        <p:sp>
          <p:nvSpPr>
            <p:cNvPr name="Freeform 3" id="3"/>
            <p:cNvSpPr/>
            <p:nvPr/>
          </p:nvSpPr>
          <p:spPr>
            <a:xfrm flipH="false" flipV="false" rot="0">
              <a:off x="0" y="0"/>
              <a:ext cx="3104158" cy="1566491"/>
            </a:xfrm>
            <a:custGeom>
              <a:avLst/>
              <a:gdLst/>
              <a:ahLst/>
              <a:cxnLst/>
              <a:rect r="r" b="b" t="t" l="l"/>
              <a:pathLst>
                <a:path h="1566491" w="3104158">
                  <a:moveTo>
                    <a:pt x="29447" y="0"/>
                  </a:moveTo>
                  <a:lnTo>
                    <a:pt x="3074711" y="0"/>
                  </a:lnTo>
                  <a:cubicBezTo>
                    <a:pt x="3090974" y="0"/>
                    <a:pt x="3104158" y="13184"/>
                    <a:pt x="3104158" y="29447"/>
                  </a:cubicBezTo>
                  <a:lnTo>
                    <a:pt x="3104158" y="1537044"/>
                  </a:lnTo>
                  <a:cubicBezTo>
                    <a:pt x="3104158" y="1553308"/>
                    <a:pt x="3090974" y="1566491"/>
                    <a:pt x="3074711" y="1566491"/>
                  </a:cubicBezTo>
                  <a:lnTo>
                    <a:pt x="29447" y="1566491"/>
                  </a:lnTo>
                  <a:cubicBezTo>
                    <a:pt x="13184" y="1566491"/>
                    <a:pt x="0" y="1553308"/>
                    <a:pt x="0" y="1537044"/>
                  </a:cubicBezTo>
                  <a:lnTo>
                    <a:pt x="0" y="29447"/>
                  </a:lnTo>
                  <a:cubicBezTo>
                    <a:pt x="0" y="13184"/>
                    <a:pt x="13184" y="0"/>
                    <a:pt x="29447" y="0"/>
                  </a:cubicBezTo>
                  <a:close/>
                </a:path>
              </a:pathLst>
            </a:custGeom>
            <a:solidFill>
              <a:srgbClr val="FFFFFF"/>
            </a:solidFill>
          </p:spPr>
        </p:sp>
        <p:sp>
          <p:nvSpPr>
            <p:cNvPr name="TextBox 4" id="4"/>
            <p:cNvSpPr txBox="true"/>
            <p:nvPr/>
          </p:nvSpPr>
          <p:spPr>
            <a:xfrm>
              <a:off x="0" y="-47625"/>
              <a:ext cx="3104158" cy="161411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171529"/>
            <a:ext cx="5568365" cy="861776"/>
            <a:chOff x="0" y="0"/>
            <a:chExt cx="1289114" cy="199507"/>
          </a:xfrm>
        </p:grpSpPr>
        <p:sp>
          <p:nvSpPr>
            <p:cNvPr name="Freeform 6" id="6"/>
            <p:cNvSpPr/>
            <p:nvPr/>
          </p:nvSpPr>
          <p:spPr>
            <a:xfrm flipH="false" flipV="false" rot="0">
              <a:off x="0" y="0"/>
              <a:ext cx="1289114" cy="199507"/>
            </a:xfrm>
            <a:custGeom>
              <a:avLst/>
              <a:gdLst/>
              <a:ahLst/>
              <a:cxnLst/>
              <a:rect r="r" b="b" t="t" l="l"/>
              <a:pathLst>
                <a:path h="199507" w="1289114">
                  <a:moveTo>
                    <a:pt x="70907" y="0"/>
                  </a:moveTo>
                  <a:lnTo>
                    <a:pt x="1218207" y="0"/>
                  </a:lnTo>
                  <a:cubicBezTo>
                    <a:pt x="1257368" y="0"/>
                    <a:pt x="1289114" y="31746"/>
                    <a:pt x="1289114" y="70907"/>
                  </a:cubicBezTo>
                  <a:lnTo>
                    <a:pt x="1289114" y="128600"/>
                  </a:lnTo>
                  <a:cubicBezTo>
                    <a:pt x="1289114" y="167761"/>
                    <a:pt x="1257368" y="199507"/>
                    <a:pt x="1218207" y="199507"/>
                  </a:cubicBezTo>
                  <a:lnTo>
                    <a:pt x="70907" y="199507"/>
                  </a:lnTo>
                  <a:cubicBezTo>
                    <a:pt x="52102" y="199507"/>
                    <a:pt x="34066" y="192036"/>
                    <a:pt x="20768" y="178739"/>
                  </a:cubicBezTo>
                  <a:cubicBezTo>
                    <a:pt x="7471" y="165441"/>
                    <a:pt x="0" y="147405"/>
                    <a:pt x="0" y="128600"/>
                  </a:cubicBezTo>
                  <a:lnTo>
                    <a:pt x="0" y="70907"/>
                  </a:lnTo>
                  <a:cubicBezTo>
                    <a:pt x="0" y="31746"/>
                    <a:pt x="31746" y="0"/>
                    <a:pt x="70907" y="0"/>
                  </a:cubicBezTo>
                  <a:close/>
                </a:path>
              </a:pathLst>
            </a:custGeom>
            <a:solidFill>
              <a:srgbClr val="EB643E"/>
            </a:solidFill>
          </p:spPr>
        </p:sp>
        <p:sp>
          <p:nvSpPr>
            <p:cNvPr name="TextBox 7" id="7"/>
            <p:cNvSpPr txBox="true"/>
            <p:nvPr/>
          </p:nvSpPr>
          <p:spPr>
            <a:xfrm>
              <a:off x="0" y="-47625"/>
              <a:ext cx="1289114" cy="24713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738928" y="7249373"/>
            <a:ext cx="10259944" cy="1025994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4C81"/>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0">
            <a:off x="13260161" y="4245783"/>
            <a:ext cx="6007181" cy="6007181"/>
          </a:xfrm>
          <a:custGeom>
            <a:avLst/>
            <a:gdLst/>
            <a:ahLst/>
            <a:cxnLst/>
            <a:rect r="r" b="b" t="t" l="l"/>
            <a:pathLst>
              <a:path h="6007181" w="6007181">
                <a:moveTo>
                  <a:pt x="0" y="0"/>
                </a:moveTo>
                <a:lnTo>
                  <a:pt x="6007181" y="0"/>
                </a:lnTo>
                <a:lnTo>
                  <a:pt x="6007181" y="6007181"/>
                </a:lnTo>
                <a:lnTo>
                  <a:pt x="0" y="6007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2" id="12"/>
          <p:cNvSpPr/>
          <p:nvPr/>
        </p:nvSpPr>
        <p:spPr>
          <a:xfrm>
            <a:off x="-337341" y="9144046"/>
            <a:ext cx="1366041" cy="0"/>
          </a:xfrm>
          <a:prstGeom prst="line">
            <a:avLst/>
          </a:prstGeom>
          <a:ln cap="flat" w="19050">
            <a:solidFill>
              <a:srgbClr val="19345D"/>
            </a:solidFill>
            <a:prstDash val="solid"/>
            <a:headEnd type="none" len="sm" w="sm"/>
            <a:tailEnd type="none" len="sm" w="sm"/>
          </a:ln>
        </p:spPr>
      </p:sp>
      <p:sp>
        <p:nvSpPr>
          <p:cNvPr name="AutoShape 13" id="13"/>
          <p:cNvSpPr/>
          <p:nvPr/>
        </p:nvSpPr>
        <p:spPr>
          <a:xfrm>
            <a:off x="17259300" y="1038225"/>
            <a:ext cx="1366041" cy="0"/>
          </a:xfrm>
          <a:prstGeom prst="line">
            <a:avLst/>
          </a:prstGeom>
          <a:ln cap="flat" w="19050">
            <a:solidFill>
              <a:srgbClr val="19345D"/>
            </a:solidFill>
            <a:prstDash val="solid"/>
            <a:headEnd type="none" len="sm" w="sm"/>
            <a:tailEnd type="none" len="sm" w="sm"/>
          </a:ln>
        </p:spPr>
      </p:sp>
      <p:sp>
        <p:nvSpPr>
          <p:cNvPr name="TextBox 14" id="14"/>
          <p:cNvSpPr txBox="true"/>
          <p:nvPr/>
        </p:nvSpPr>
        <p:spPr>
          <a:xfrm rot="0">
            <a:off x="1339733" y="2509495"/>
            <a:ext cx="13142013" cy="5549900"/>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000000"/>
                </a:solidFill>
                <a:latin typeface="Quicksand"/>
                <a:ea typeface="Quicksand"/>
                <a:cs typeface="Quicksand"/>
                <a:sym typeface="Quicksand"/>
              </a:rPr>
              <a:t>Memberikan bukti empiris mengenai hubungan faktor sosial ekonomi dengan kasus HIV/AIDS per provinsi.</a:t>
            </a:r>
          </a:p>
          <a:p>
            <a:pPr algn="l" marL="755651" indent="-377825" lvl="1">
              <a:lnSpc>
                <a:spcPts val="4900"/>
              </a:lnSpc>
              <a:buAutoNum type="arabicPeriod" startAt="1"/>
            </a:pPr>
            <a:r>
              <a:rPr lang="en-US" sz="3500">
                <a:solidFill>
                  <a:srgbClr val="000000"/>
                </a:solidFill>
                <a:latin typeface="Quicksand"/>
                <a:ea typeface="Quicksand"/>
                <a:cs typeface="Quicksand"/>
                <a:sym typeface="Quicksand"/>
              </a:rPr>
              <a:t>Menyediakan informasi untuk mengidentifikasi provinsi yang memiliki kerentanan sosial ekonomi tinggi terhadap HIV/AIDS.</a:t>
            </a:r>
          </a:p>
          <a:p>
            <a:pPr algn="l" marL="755651" indent="-377825" lvl="1">
              <a:lnSpc>
                <a:spcPts val="4900"/>
              </a:lnSpc>
              <a:spcBef>
                <a:spcPct val="0"/>
              </a:spcBef>
              <a:buAutoNum type="arabicPeriod" startAt="1"/>
            </a:pPr>
            <a:r>
              <a:rPr lang="en-US" sz="3500">
                <a:solidFill>
                  <a:srgbClr val="000000"/>
                </a:solidFill>
                <a:latin typeface="Quicksand"/>
                <a:ea typeface="Quicksand"/>
                <a:cs typeface="Quicksand"/>
                <a:sym typeface="Quicksand"/>
              </a:rPr>
              <a:t>Menjadi dasar pertimbangan dalam merancang strategi pencegahan dan penanggulangan HIV/AIDS yang memperhatikan kondisi sosial ekonomi masyarakat.</a:t>
            </a:r>
          </a:p>
          <a:p>
            <a:pPr algn="l">
              <a:lnSpc>
                <a:spcPts val="4900"/>
              </a:lnSpc>
              <a:spcBef>
                <a:spcPct val="0"/>
              </a:spcBef>
            </a:pPr>
          </a:p>
        </p:txBody>
      </p:sp>
      <p:sp>
        <p:nvSpPr>
          <p:cNvPr name="TextBox 15" id="15"/>
          <p:cNvSpPr txBox="true"/>
          <p:nvPr/>
        </p:nvSpPr>
        <p:spPr>
          <a:xfrm rot="0">
            <a:off x="1642001" y="1261104"/>
            <a:ext cx="4341763" cy="606425"/>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Intro Rust"/>
                <a:ea typeface="Intro Rust"/>
                <a:cs typeface="Intro Rust"/>
                <a:sym typeface="Intro Rust"/>
              </a:rPr>
              <a:t>Manfaat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415933" y="1602417"/>
            <a:ext cx="13408500" cy="6766504"/>
            <a:chOff x="0" y="0"/>
            <a:chExt cx="3104158" cy="1566491"/>
          </a:xfrm>
        </p:grpSpPr>
        <p:sp>
          <p:nvSpPr>
            <p:cNvPr name="Freeform 3" id="3"/>
            <p:cNvSpPr/>
            <p:nvPr/>
          </p:nvSpPr>
          <p:spPr>
            <a:xfrm flipH="false" flipV="false" rot="0">
              <a:off x="0" y="0"/>
              <a:ext cx="3104158" cy="1566491"/>
            </a:xfrm>
            <a:custGeom>
              <a:avLst/>
              <a:gdLst/>
              <a:ahLst/>
              <a:cxnLst/>
              <a:rect r="r" b="b" t="t" l="l"/>
              <a:pathLst>
                <a:path h="1566491" w="3104158">
                  <a:moveTo>
                    <a:pt x="29447" y="0"/>
                  </a:moveTo>
                  <a:lnTo>
                    <a:pt x="3074711" y="0"/>
                  </a:lnTo>
                  <a:cubicBezTo>
                    <a:pt x="3090974" y="0"/>
                    <a:pt x="3104158" y="13184"/>
                    <a:pt x="3104158" y="29447"/>
                  </a:cubicBezTo>
                  <a:lnTo>
                    <a:pt x="3104158" y="1537044"/>
                  </a:lnTo>
                  <a:cubicBezTo>
                    <a:pt x="3104158" y="1553308"/>
                    <a:pt x="3090974" y="1566491"/>
                    <a:pt x="3074711" y="1566491"/>
                  </a:cubicBezTo>
                  <a:lnTo>
                    <a:pt x="29447" y="1566491"/>
                  </a:lnTo>
                  <a:cubicBezTo>
                    <a:pt x="13184" y="1566491"/>
                    <a:pt x="0" y="1553308"/>
                    <a:pt x="0" y="1537044"/>
                  </a:cubicBezTo>
                  <a:lnTo>
                    <a:pt x="0" y="29447"/>
                  </a:lnTo>
                  <a:cubicBezTo>
                    <a:pt x="0" y="13184"/>
                    <a:pt x="13184" y="0"/>
                    <a:pt x="29447" y="0"/>
                  </a:cubicBezTo>
                  <a:close/>
                </a:path>
              </a:pathLst>
            </a:custGeom>
            <a:solidFill>
              <a:srgbClr val="FFFFFF"/>
            </a:solidFill>
          </p:spPr>
        </p:sp>
        <p:sp>
          <p:nvSpPr>
            <p:cNvPr name="TextBox 4" id="4"/>
            <p:cNvSpPr txBox="true"/>
            <p:nvPr/>
          </p:nvSpPr>
          <p:spPr>
            <a:xfrm>
              <a:off x="0" y="-47625"/>
              <a:ext cx="3104158" cy="161411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171529"/>
            <a:ext cx="5568365" cy="861776"/>
            <a:chOff x="0" y="0"/>
            <a:chExt cx="1289114" cy="199507"/>
          </a:xfrm>
        </p:grpSpPr>
        <p:sp>
          <p:nvSpPr>
            <p:cNvPr name="Freeform 6" id="6"/>
            <p:cNvSpPr/>
            <p:nvPr/>
          </p:nvSpPr>
          <p:spPr>
            <a:xfrm flipH="false" flipV="false" rot="0">
              <a:off x="0" y="0"/>
              <a:ext cx="1289114" cy="199507"/>
            </a:xfrm>
            <a:custGeom>
              <a:avLst/>
              <a:gdLst/>
              <a:ahLst/>
              <a:cxnLst/>
              <a:rect r="r" b="b" t="t" l="l"/>
              <a:pathLst>
                <a:path h="199507" w="1289114">
                  <a:moveTo>
                    <a:pt x="70907" y="0"/>
                  </a:moveTo>
                  <a:lnTo>
                    <a:pt x="1218207" y="0"/>
                  </a:lnTo>
                  <a:cubicBezTo>
                    <a:pt x="1257368" y="0"/>
                    <a:pt x="1289114" y="31746"/>
                    <a:pt x="1289114" y="70907"/>
                  </a:cubicBezTo>
                  <a:lnTo>
                    <a:pt x="1289114" y="128600"/>
                  </a:lnTo>
                  <a:cubicBezTo>
                    <a:pt x="1289114" y="167761"/>
                    <a:pt x="1257368" y="199507"/>
                    <a:pt x="1218207" y="199507"/>
                  </a:cubicBezTo>
                  <a:lnTo>
                    <a:pt x="70907" y="199507"/>
                  </a:lnTo>
                  <a:cubicBezTo>
                    <a:pt x="52102" y="199507"/>
                    <a:pt x="34066" y="192036"/>
                    <a:pt x="20768" y="178739"/>
                  </a:cubicBezTo>
                  <a:cubicBezTo>
                    <a:pt x="7471" y="165441"/>
                    <a:pt x="0" y="147405"/>
                    <a:pt x="0" y="128600"/>
                  </a:cubicBezTo>
                  <a:lnTo>
                    <a:pt x="0" y="70907"/>
                  </a:lnTo>
                  <a:cubicBezTo>
                    <a:pt x="0" y="31746"/>
                    <a:pt x="31746" y="0"/>
                    <a:pt x="70907" y="0"/>
                  </a:cubicBezTo>
                  <a:close/>
                </a:path>
              </a:pathLst>
            </a:custGeom>
            <a:solidFill>
              <a:srgbClr val="EB643E"/>
            </a:solidFill>
          </p:spPr>
        </p:sp>
        <p:sp>
          <p:nvSpPr>
            <p:cNvPr name="TextBox 7" id="7"/>
            <p:cNvSpPr txBox="true"/>
            <p:nvPr/>
          </p:nvSpPr>
          <p:spPr>
            <a:xfrm>
              <a:off x="0" y="-47625"/>
              <a:ext cx="1289114" cy="24713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738928" y="7249373"/>
            <a:ext cx="10259944" cy="1025994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4C81"/>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0">
            <a:off x="13260161" y="4245783"/>
            <a:ext cx="6007181" cy="6007181"/>
          </a:xfrm>
          <a:custGeom>
            <a:avLst/>
            <a:gdLst/>
            <a:ahLst/>
            <a:cxnLst/>
            <a:rect r="r" b="b" t="t" l="l"/>
            <a:pathLst>
              <a:path h="6007181" w="6007181">
                <a:moveTo>
                  <a:pt x="0" y="0"/>
                </a:moveTo>
                <a:lnTo>
                  <a:pt x="6007181" y="0"/>
                </a:lnTo>
                <a:lnTo>
                  <a:pt x="6007181" y="6007181"/>
                </a:lnTo>
                <a:lnTo>
                  <a:pt x="0" y="6007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2" id="12"/>
          <p:cNvSpPr/>
          <p:nvPr/>
        </p:nvSpPr>
        <p:spPr>
          <a:xfrm>
            <a:off x="-337341" y="9144046"/>
            <a:ext cx="1366041" cy="0"/>
          </a:xfrm>
          <a:prstGeom prst="line">
            <a:avLst/>
          </a:prstGeom>
          <a:ln cap="flat" w="19050">
            <a:solidFill>
              <a:srgbClr val="19345D"/>
            </a:solidFill>
            <a:prstDash val="solid"/>
            <a:headEnd type="none" len="sm" w="sm"/>
            <a:tailEnd type="none" len="sm" w="sm"/>
          </a:ln>
        </p:spPr>
      </p:sp>
      <p:sp>
        <p:nvSpPr>
          <p:cNvPr name="AutoShape 13" id="13"/>
          <p:cNvSpPr/>
          <p:nvPr/>
        </p:nvSpPr>
        <p:spPr>
          <a:xfrm>
            <a:off x="17259300" y="1038225"/>
            <a:ext cx="1366041" cy="0"/>
          </a:xfrm>
          <a:prstGeom prst="line">
            <a:avLst/>
          </a:prstGeom>
          <a:ln cap="flat" w="19050">
            <a:solidFill>
              <a:srgbClr val="19345D"/>
            </a:solidFill>
            <a:prstDash val="solid"/>
            <a:headEnd type="none" len="sm" w="sm"/>
            <a:tailEnd type="none" len="sm" w="sm"/>
          </a:ln>
        </p:spPr>
      </p:sp>
      <p:sp>
        <p:nvSpPr>
          <p:cNvPr name="TextBox 14" id="14"/>
          <p:cNvSpPr txBox="true"/>
          <p:nvPr/>
        </p:nvSpPr>
        <p:spPr>
          <a:xfrm rot="0">
            <a:off x="1301633" y="2740025"/>
            <a:ext cx="13142013" cy="4930775"/>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000000"/>
                </a:solidFill>
                <a:latin typeface="Quicksand"/>
                <a:ea typeface="Quicksand"/>
                <a:cs typeface="Quicksand"/>
                <a:sym typeface="Quicksand"/>
              </a:rPr>
              <a:t>Menganalisis hubungan faktor sosial ekonomi terhadap kasus HIV/AIDS per provinsi. </a:t>
            </a:r>
          </a:p>
          <a:p>
            <a:pPr algn="l" marL="755651" indent="-377825" lvl="1">
              <a:lnSpc>
                <a:spcPts val="4900"/>
              </a:lnSpc>
              <a:buAutoNum type="arabicPeriod" startAt="1"/>
            </a:pPr>
            <a:r>
              <a:rPr lang="en-US" sz="3500">
                <a:solidFill>
                  <a:srgbClr val="000000"/>
                </a:solidFill>
                <a:latin typeface="Quicksand"/>
                <a:ea typeface="Quicksand"/>
                <a:cs typeface="Quicksand"/>
                <a:sym typeface="Quicksand"/>
              </a:rPr>
              <a:t>Mengidentifikasi provinsi dengan risiko sosial ekonomi tinggi yang berkaitan dengan prevalensi HIV/AIDS.</a:t>
            </a:r>
          </a:p>
          <a:p>
            <a:pPr algn="l" marL="755651" indent="-377825" lvl="1">
              <a:lnSpc>
                <a:spcPts val="4900"/>
              </a:lnSpc>
              <a:spcBef>
                <a:spcPct val="0"/>
              </a:spcBef>
              <a:buAutoNum type="arabicPeriod" startAt="1"/>
            </a:pPr>
            <a:r>
              <a:rPr lang="en-US" sz="3500">
                <a:solidFill>
                  <a:srgbClr val="000000"/>
                </a:solidFill>
                <a:latin typeface="Quicksand"/>
                <a:ea typeface="Quicksand"/>
                <a:cs typeface="Quicksand"/>
                <a:sym typeface="Quicksand"/>
              </a:rPr>
              <a:t>Memberikan gambaran bagaimana kondisi sosial ekonomi dapat berpengaruh terhadap penyebaran HIV/AIDS di Indonesia.</a:t>
            </a:r>
          </a:p>
          <a:p>
            <a:pPr algn="l">
              <a:lnSpc>
                <a:spcPts val="4900"/>
              </a:lnSpc>
              <a:spcBef>
                <a:spcPct val="0"/>
              </a:spcBef>
            </a:pPr>
          </a:p>
        </p:txBody>
      </p:sp>
      <p:sp>
        <p:nvSpPr>
          <p:cNvPr name="TextBox 15" id="15"/>
          <p:cNvSpPr txBox="true"/>
          <p:nvPr/>
        </p:nvSpPr>
        <p:spPr>
          <a:xfrm rot="0">
            <a:off x="1642001" y="1261104"/>
            <a:ext cx="4341763" cy="606425"/>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Intro Rust"/>
                <a:ea typeface="Intro Rust"/>
                <a:cs typeface="Intro Rust"/>
                <a:sym typeface="Intro Rust"/>
              </a:rPr>
              <a:t>tujuan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sp>
        <p:nvSpPr>
          <p:cNvPr name="AutoShape 2" id="2"/>
          <p:cNvSpPr/>
          <p:nvPr/>
        </p:nvSpPr>
        <p:spPr>
          <a:xfrm>
            <a:off x="-337341" y="9744842"/>
            <a:ext cx="1366041" cy="0"/>
          </a:xfrm>
          <a:prstGeom prst="line">
            <a:avLst/>
          </a:prstGeom>
          <a:ln cap="flat" w="19050">
            <a:solidFill>
              <a:srgbClr val="19345D"/>
            </a:solidFill>
            <a:prstDash val="solid"/>
            <a:headEnd type="none" len="sm" w="sm"/>
            <a:tailEnd type="none" len="sm" w="sm"/>
          </a:ln>
        </p:spPr>
      </p:sp>
      <p:grpSp>
        <p:nvGrpSpPr>
          <p:cNvPr name="Group 3" id="3"/>
          <p:cNvGrpSpPr/>
          <p:nvPr/>
        </p:nvGrpSpPr>
        <p:grpSpPr>
          <a:xfrm rot="0">
            <a:off x="6084562" y="607337"/>
            <a:ext cx="6118876" cy="861776"/>
            <a:chOff x="0" y="0"/>
            <a:chExt cx="1416561" cy="199507"/>
          </a:xfrm>
        </p:grpSpPr>
        <p:sp>
          <p:nvSpPr>
            <p:cNvPr name="Freeform 4" id="4"/>
            <p:cNvSpPr/>
            <p:nvPr/>
          </p:nvSpPr>
          <p:spPr>
            <a:xfrm flipH="false" flipV="false" rot="0">
              <a:off x="0" y="0"/>
              <a:ext cx="1416561" cy="199507"/>
            </a:xfrm>
            <a:custGeom>
              <a:avLst/>
              <a:gdLst/>
              <a:ahLst/>
              <a:cxnLst/>
              <a:rect r="r" b="b" t="t" l="l"/>
              <a:pathLst>
                <a:path h="199507" w="1416561">
                  <a:moveTo>
                    <a:pt x="64528" y="0"/>
                  </a:moveTo>
                  <a:lnTo>
                    <a:pt x="1352033" y="0"/>
                  </a:lnTo>
                  <a:cubicBezTo>
                    <a:pt x="1387671" y="0"/>
                    <a:pt x="1416561" y="28890"/>
                    <a:pt x="1416561" y="64528"/>
                  </a:cubicBezTo>
                  <a:lnTo>
                    <a:pt x="1416561" y="134979"/>
                  </a:lnTo>
                  <a:cubicBezTo>
                    <a:pt x="1416561" y="170617"/>
                    <a:pt x="1387671" y="199507"/>
                    <a:pt x="1352033" y="199507"/>
                  </a:cubicBezTo>
                  <a:lnTo>
                    <a:pt x="64528" y="199507"/>
                  </a:lnTo>
                  <a:cubicBezTo>
                    <a:pt x="28890" y="199507"/>
                    <a:pt x="0" y="170617"/>
                    <a:pt x="0" y="134979"/>
                  </a:cubicBezTo>
                  <a:lnTo>
                    <a:pt x="0" y="64528"/>
                  </a:lnTo>
                  <a:cubicBezTo>
                    <a:pt x="0" y="28890"/>
                    <a:pt x="28890" y="0"/>
                    <a:pt x="64528" y="0"/>
                  </a:cubicBezTo>
                  <a:close/>
                </a:path>
              </a:pathLst>
            </a:custGeom>
            <a:solidFill>
              <a:srgbClr val="EB643E"/>
            </a:solidFill>
          </p:spPr>
        </p:sp>
        <p:sp>
          <p:nvSpPr>
            <p:cNvPr name="TextBox 5" id="5"/>
            <p:cNvSpPr txBox="true"/>
            <p:nvPr/>
          </p:nvSpPr>
          <p:spPr>
            <a:xfrm>
              <a:off x="0" y="-47625"/>
              <a:ext cx="1416561" cy="247132"/>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a:off x="17259300" y="1038225"/>
            <a:ext cx="1366041" cy="0"/>
          </a:xfrm>
          <a:prstGeom prst="line">
            <a:avLst/>
          </a:prstGeom>
          <a:ln cap="flat" w="19050">
            <a:solidFill>
              <a:srgbClr val="19345D"/>
            </a:solidFill>
            <a:prstDash val="solid"/>
            <a:headEnd type="none" len="sm" w="sm"/>
            <a:tailEnd type="none" len="sm" w="sm"/>
          </a:ln>
        </p:spPr>
      </p:sp>
      <p:sp>
        <p:nvSpPr>
          <p:cNvPr name="Freeform 7" id="7"/>
          <p:cNvSpPr/>
          <p:nvPr/>
        </p:nvSpPr>
        <p:spPr>
          <a:xfrm flipH="false" flipV="false" rot="0">
            <a:off x="1294797" y="2834911"/>
            <a:ext cx="15698406" cy="4617178"/>
          </a:xfrm>
          <a:custGeom>
            <a:avLst/>
            <a:gdLst/>
            <a:ahLst/>
            <a:cxnLst/>
            <a:rect r="r" b="b" t="t" l="l"/>
            <a:pathLst>
              <a:path h="4617178" w="15698406">
                <a:moveTo>
                  <a:pt x="0" y="0"/>
                </a:moveTo>
                <a:lnTo>
                  <a:pt x="15698406" y="0"/>
                </a:lnTo>
                <a:lnTo>
                  <a:pt x="15698406" y="4617178"/>
                </a:lnTo>
                <a:lnTo>
                  <a:pt x="0" y="4617178"/>
                </a:lnTo>
                <a:lnTo>
                  <a:pt x="0" y="0"/>
                </a:lnTo>
                <a:close/>
              </a:path>
            </a:pathLst>
          </a:custGeom>
          <a:blipFill>
            <a:blip r:embed="rId2"/>
            <a:stretch>
              <a:fillRect l="-8496" t="-67736" r="-13152" b="-73986"/>
            </a:stretch>
          </a:blipFill>
        </p:spPr>
      </p:sp>
      <p:sp>
        <p:nvSpPr>
          <p:cNvPr name="TextBox 8" id="8"/>
          <p:cNvSpPr txBox="true"/>
          <p:nvPr/>
        </p:nvSpPr>
        <p:spPr>
          <a:xfrm rot="0">
            <a:off x="6520195" y="696913"/>
            <a:ext cx="5218760" cy="606425"/>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Intro Rust"/>
                <a:ea typeface="Intro Rust"/>
                <a:cs typeface="Intro Rust"/>
                <a:sym typeface="Intro Rust"/>
              </a:rPr>
              <a:t>Pipeline wrangling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015925" y="597812"/>
            <a:ext cx="4318702" cy="861776"/>
            <a:chOff x="0" y="0"/>
            <a:chExt cx="999809" cy="199507"/>
          </a:xfrm>
        </p:grpSpPr>
        <p:sp>
          <p:nvSpPr>
            <p:cNvPr name="Freeform 3" id="3"/>
            <p:cNvSpPr/>
            <p:nvPr/>
          </p:nvSpPr>
          <p:spPr>
            <a:xfrm flipH="false" flipV="false" rot="0">
              <a:off x="0" y="0"/>
              <a:ext cx="999809" cy="199507"/>
            </a:xfrm>
            <a:custGeom>
              <a:avLst/>
              <a:gdLst/>
              <a:ahLst/>
              <a:cxnLst/>
              <a:rect r="r" b="b" t="t" l="l"/>
              <a:pathLst>
                <a:path h="199507" w="999809">
                  <a:moveTo>
                    <a:pt x="91425" y="0"/>
                  </a:moveTo>
                  <a:lnTo>
                    <a:pt x="908383" y="0"/>
                  </a:lnTo>
                  <a:cubicBezTo>
                    <a:pt x="932631" y="0"/>
                    <a:pt x="955885" y="9632"/>
                    <a:pt x="973031" y="26778"/>
                  </a:cubicBezTo>
                  <a:cubicBezTo>
                    <a:pt x="990176" y="43923"/>
                    <a:pt x="999809" y="67178"/>
                    <a:pt x="999809" y="91425"/>
                  </a:cubicBezTo>
                  <a:lnTo>
                    <a:pt x="999809" y="108082"/>
                  </a:lnTo>
                  <a:cubicBezTo>
                    <a:pt x="999809" y="132329"/>
                    <a:pt x="990176" y="155584"/>
                    <a:pt x="973031" y="172729"/>
                  </a:cubicBezTo>
                  <a:cubicBezTo>
                    <a:pt x="955885" y="189875"/>
                    <a:pt x="932631" y="199507"/>
                    <a:pt x="908383" y="199507"/>
                  </a:cubicBezTo>
                  <a:lnTo>
                    <a:pt x="91425" y="199507"/>
                  </a:lnTo>
                  <a:cubicBezTo>
                    <a:pt x="67178" y="199507"/>
                    <a:pt x="43923" y="189875"/>
                    <a:pt x="26778" y="172729"/>
                  </a:cubicBezTo>
                  <a:cubicBezTo>
                    <a:pt x="9632" y="155584"/>
                    <a:pt x="0" y="132329"/>
                    <a:pt x="0" y="108082"/>
                  </a:cubicBezTo>
                  <a:lnTo>
                    <a:pt x="0" y="91425"/>
                  </a:lnTo>
                  <a:cubicBezTo>
                    <a:pt x="0" y="67178"/>
                    <a:pt x="9632" y="43923"/>
                    <a:pt x="26778" y="26778"/>
                  </a:cubicBezTo>
                  <a:cubicBezTo>
                    <a:pt x="43923" y="9632"/>
                    <a:pt x="67178" y="0"/>
                    <a:pt x="91425" y="0"/>
                  </a:cubicBezTo>
                  <a:close/>
                </a:path>
              </a:pathLst>
            </a:custGeom>
            <a:solidFill>
              <a:srgbClr val="19345D"/>
            </a:solidFill>
          </p:spPr>
        </p:sp>
        <p:sp>
          <p:nvSpPr>
            <p:cNvPr name="TextBox 4" id="4"/>
            <p:cNvSpPr txBox="true"/>
            <p:nvPr/>
          </p:nvSpPr>
          <p:spPr>
            <a:xfrm>
              <a:off x="0" y="-47625"/>
              <a:ext cx="999809" cy="24713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114166" y="-1219773"/>
            <a:ext cx="2996575" cy="2996575"/>
          </a:xfrm>
          <a:custGeom>
            <a:avLst/>
            <a:gdLst/>
            <a:ahLst/>
            <a:cxnLst/>
            <a:rect r="r" b="b" t="t" l="l"/>
            <a:pathLst>
              <a:path h="2996575" w="2996575">
                <a:moveTo>
                  <a:pt x="0" y="0"/>
                </a:moveTo>
                <a:lnTo>
                  <a:pt x="2996575" y="0"/>
                </a:lnTo>
                <a:lnTo>
                  <a:pt x="2996575" y="2996575"/>
                </a:lnTo>
                <a:lnTo>
                  <a:pt x="0" y="299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73787" y="2120911"/>
            <a:ext cx="9427692" cy="7530714"/>
          </a:xfrm>
          <a:custGeom>
            <a:avLst/>
            <a:gdLst/>
            <a:ahLst/>
            <a:cxnLst/>
            <a:rect r="r" b="b" t="t" l="l"/>
            <a:pathLst>
              <a:path h="7530714" w="9427692">
                <a:moveTo>
                  <a:pt x="0" y="0"/>
                </a:moveTo>
                <a:lnTo>
                  <a:pt x="9427692" y="0"/>
                </a:lnTo>
                <a:lnTo>
                  <a:pt x="9427692" y="7530714"/>
                </a:lnTo>
                <a:lnTo>
                  <a:pt x="0" y="7530714"/>
                </a:lnTo>
                <a:lnTo>
                  <a:pt x="0" y="0"/>
                </a:lnTo>
                <a:close/>
              </a:path>
            </a:pathLst>
          </a:custGeom>
          <a:blipFill>
            <a:blip r:embed="rId4"/>
            <a:stretch>
              <a:fillRect l="0" t="0" r="0" b="0"/>
            </a:stretch>
          </a:blipFill>
        </p:spPr>
      </p:sp>
      <p:sp>
        <p:nvSpPr>
          <p:cNvPr name="TextBox 7" id="7"/>
          <p:cNvSpPr txBox="true"/>
          <p:nvPr/>
        </p:nvSpPr>
        <p:spPr>
          <a:xfrm rot="0">
            <a:off x="1422685" y="641350"/>
            <a:ext cx="3505182" cy="688975"/>
          </a:xfrm>
          <a:prstGeom prst="rect">
            <a:avLst/>
          </a:prstGeom>
        </p:spPr>
        <p:txBody>
          <a:bodyPr anchor="t" rtlCol="false" tIns="0" lIns="0" bIns="0" rIns="0">
            <a:spAutoFit/>
          </a:bodyPr>
          <a:lstStyle/>
          <a:p>
            <a:pPr algn="ctr">
              <a:lnSpc>
                <a:spcPts val="5599"/>
              </a:lnSpc>
              <a:spcBef>
                <a:spcPct val="0"/>
              </a:spcBef>
            </a:pPr>
            <a:r>
              <a:rPr lang="en-US" sz="3999">
                <a:solidFill>
                  <a:srgbClr val="FFFFFF"/>
                </a:solidFill>
                <a:latin typeface="Intro Rust"/>
                <a:ea typeface="Intro Rust"/>
                <a:cs typeface="Intro Rust"/>
                <a:sym typeface="Intro Rust"/>
              </a:rPr>
              <a:t>Visualisasi</a:t>
            </a:r>
          </a:p>
        </p:txBody>
      </p:sp>
      <p:sp>
        <p:nvSpPr>
          <p:cNvPr name="TextBox 8" id="8"/>
          <p:cNvSpPr txBox="true"/>
          <p:nvPr/>
        </p:nvSpPr>
        <p:spPr>
          <a:xfrm rot="0">
            <a:off x="10539288" y="3044190"/>
            <a:ext cx="6720012" cy="5415915"/>
          </a:xfrm>
          <a:prstGeom prst="rect">
            <a:avLst/>
          </a:prstGeom>
        </p:spPr>
        <p:txBody>
          <a:bodyPr anchor="t" rtlCol="false" tIns="0" lIns="0" bIns="0" rIns="0">
            <a:spAutoFit/>
          </a:bodyPr>
          <a:lstStyle/>
          <a:p>
            <a:pPr algn="just">
              <a:lnSpc>
                <a:spcPts val="3959"/>
              </a:lnSpc>
            </a:pPr>
            <a:r>
              <a:rPr lang="en-US" sz="2399">
                <a:solidFill>
                  <a:srgbClr val="000000"/>
                </a:solidFill>
                <a:latin typeface="Open Sauce"/>
                <a:ea typeface="Open Sauce"/>
                <a:cs typeface="Open Sauce"/>
                <a:sym typeface="Open Sauce"/>
              </a:rPr>
              <a:t>Boxplot menampilkan bahwa beberapa provinsi memiliki nilai yang jauh lebih tinggi dibanding provinsi lain, sehingga muncul sebagai outlier. Outlier kuat terlihat pada jumlah penduduk miskin, kasus HIV 2024, dan kasus AIDS 2024, yang menunjukkan adanya ketimpangan antarprovinsi. Variabel seperti rata-rata lama sekolah, TPT, dan rasio HIV/AIDS memiliki rentang nilai lebih sempit, sehingga hampir tidak menunjukkan outlier besar.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758750" y="337319"/>
            <a:ext cx="4318702" cy="861776"/>
            <a:chOff x="0" y="0"/>
            <a:chExt cx="999809" cy="199507"/>
          </a:xfrm>
        </p:grpSpPr>
        <p:sp>
          <p:nvSpPr>
            <p:cNvPr name="Freeform 3" id="3"/>
            <p:cNvSpPr/>
            <p:nvPr/>
          </p:nvSpPr>
          <p:spPr>
            <a:xfrm flipH="false" flipV="false" rot="0">
              <a:off x="0" y="0"/>
              <a:ext cx="999809" cy="199507"/>
            </a:xfrm>
            <a:custGeom>
              <a:avLst/>
              <a:gdLst/>
              <a:ahLst/>
              <a:cxnLst/>
              <a:rect r="r" b="b" t="t" l="l"/>
              <a:pathLst>
                <a:path h="199507" w="999809">
                  <a:moveTo>
                    <a:pt x="91425" y="0"/>
                  </a:moveTo>
                  <a:lnTo>
                    <a:pt x="908383" y="0"/>
                  </a:lnTo>
                  <a:cubicBezTo>
                    <a:pt x="932631" y="0"/>
                    <a:pt x="955885" y="9632"/>
                    <a:pt x="973031" y="26778"/>
                  </a:cubicBezTo>
                  <a:cubicBezTo>
                    <a:pt x="990176" y="43923"/>
                    <a:pt x="999809" y="67178"/>
                    <a:pt x="999809" y="91425"/>
                  </a:cubicBezTo>
                  <a:lnTo>
                    <a:pt x="999809" y="108082"/>
                  </a:lnTo>
                  <a:cubicBezTo>
                    <a:pt x="999809" y="132329"/>
                    <a:pt x="990176" y="155584"/>
                    <a:pt x="973031" y="172729"/>
                  </a:cubicBezTo>
                  <a:cubicBezTo>
                    <a:pt x="955885" y="189875"/>
                    <a:pt x="932631" y="199507"/>
                    <a:pt x="908383" y="199507"/>
                  </a:cubicBezTo>
                  <a:lnTo>
                    <a:pt x="91425" y="199507"/>
                  </a:lnTo>
                  <a:cubicBezTo>
                    <a:pt x="67178" y="199507"/>
                    <a:pt x="43923" y="189875"/>
                    <a:pt x="26778" y="172729"/>
                  </a:cubicBezTo>
                  <a:cubicBezTo>
                    <a:pt x="9632" y="155584"/>
                    <a:pt x="0" y="132329"/>
                    <a:pt x="0" y="108082"/>
                  </a:cubicBezTo>
                  <a:lnTo>
                    <a:pt x="0" y="91425"/>
                  </a:lnTo>
                  <a:cubicBezTo>
                    <a:pt x="0" y="67178"/>
                    <a:pt x="9632" y="43923"/>
                    <a:pt x="26778" y="26778"/>
                  </a:cubicBezTo>
                  <a:cubicBezTo>
                    <a:pt x="43923" y="9632"/>
                    <a:pt x="67178" y="0"/>
                    <a:pt x="91425" y="0"/>
                  </a:cubicBezTo>
                  <a:close/>
                </a:path>
              </a:pathLst>
            </a:custGeom>
            <a:solidFill>
              <a:srgbClr val="19345D"/>
            </a:solidFill>
          </p:spPr>
        </p:sp>
        <p:sp>
          <p:nvSpPr>
            <p:cNvPr name="TextBox 4" id="4"/>
            <p:cNvSpPr txBox="true"/>
            <p:nvPr/>
          </p:nvSpPr>
          <p:spPr>
            <a:xfrm>
              <a:off x="0" y="-47625"/>
              <a:ext cx="999809" cy="24713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114166" y="-1219773"/>
            <a:ext cx="2996575" cy="2996575"/>
          </a:xfrm>
          <a:custGeom>
            <a:avLst/>
            <a:gdLst/>
            <a:ahLst/>
            <a:cxnLst/>
            <a:rect r="r" b="b" t="t" l="l"/>
            <a:pathLst>
              <a:path h="2996575" w="2996575">
                <a:moveTo>
                  <a:pt x="0" y="0"/>
                </a:moveTo>
                <a:lnTo>
                  <a:pt x="2996575" y="0"/>
                </a:lnTo>
                <a:lnTo>
                  <a:pt x="2996575" y="2996575"/>
                </a:lnTo>
                <a:lnTo>
                  <a:pt x="0" y="299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58750" y="2075559"/>
            <a:ext cx="9770960" cy="6938797"/>
          </a:xfrm>
          <a:custGeom>
            <a:avLst/>
            <a:gdLst/>
            <a:ahLst/>
            <a:cxnLst/>
            <a:rect r="r" b="b" t="t" l="l"/>
            <a:pathLst>
              <a:path h="6938797" w="9770960">
                <a:moveTo>
                  <a:pt x="0" y="0"/>
                </a:moveTo>
                <a:lnTo>
                  <a:pt x="9770960" y="0"/>
                </a:lnTo>
                <a:lnTo>
                  <a:pt x="9770960" y="6938797"/>
                </a:lnTo>
                <a:lnTo>
                  <a:pt x="0" y="6938797"/>
                </a:lnTo>
                <a:lnTo>
                  <a:pt x="0" y="0"/>
                </a:lnTo>
                <a:close/>
              </a:path>
            </a:pathLst>
          </a:custGeom>
          <a:blipFill>
            <a:blip r:embed="rId4"/>
            <a:stretch>
              <a:fillRect l="0" t="0" r="0" b="0"/>
            </a:stretch>
          </a:blipFill>
        </p:spPr>
      </p:sp>
      <p:sp>
        <p:nvSpPr>
          <p:cNvPr name="TextBox 7" id="7"/>
          <p:cNvSpPr txBox="true"/>
          <p:nvPr/>
        </p:nvSpPr>
        <p:spPr>
          <a:xfrm rot="0">
            <a:off x="1165510" y="380857"/>
            <a:ext cx="3505182" cy="688975"/>
          </a:xfrm>
          <a:prstGeom prst="rect">
            <a:avLst/>
          </a:prstGeom>
        </p:spPr>
        <p:txBody>
          <a:bodyPr anchor="t" rtlCol="false" tIns="0" lIns="0" bIns="0" rIns="0">
            <a:spAutoFit/>
          </a:bodyPr>
          <a:lstStyle/>
          <a:p>
            <a:pPr algn="ctr">
              <a:lnSpc>
                <a:spcPts val="5599"/>
              </a:lnSpc>
              <a:spcBef>
                <a:spcPct val="0"/>
              </a:spcBef>
            </a:pPr>
            <a:r>
              <a:rPr lang="en-US" sz="3999">
                <a:solidFill>
                  <a:srgbClr val="FFFFFF"/>
                </a:solidFill>
                <a:latin typeface="Intro Rust"/>
                <a:ea typeface="Intro Rust"/>
                <a:cs typeface="Intro Rust"/>
                <a:sym typeface="Intro Rust"/>
              </a:rPr>
              <a:t>Visualisasi</a:t>
            </a:r>
          </a:p>
        </p:txBody>
      </p:sp>
      <p:sp>
        <p:nvSpPr>
          <p:cNvPr name="TextBox 8" id="8"/>
          <p:cNvSpPr txBox="true"/>
          <p:nvPr/>
        </p:nvSpPr>
        <p:spPr>
          <a:xfrm rot="0">
            <a:off x="10836040" y="3226572"/>
            <a:ext cx="6776414" cy="4541520"/>
          </a:xfrm>
          <a:prstGeom prst="rect">
            <a:avLst/>
          </a:prstGeom>
        </p:spPr>
        <p:txBody>
          <a:bodyPr anchor="t" rtlCol="false" tIns="0" lIns="0" bIns="0" rIns="0">
            <a:spAutoFit/>
          </a:bodyPr>
          <a:lstStyle/>
          <a:p>
            <a:pPr algn="just">
              <a:lnSpc>
                <a:spcPts val="3629"/>
              </a:lnSpc>
            </a:pPr>
            <a:r>
              <a:rPr lang="en-US" sz="2199">
                <a:solidFill>
                  <a:srgbClr val="000000"/>
                </a:solidFill>
                <a:latin typeface="Open Sauce"/>
                <a:ea typeface="Open Sauce"/>
                <a:cs typeface="Open Sauce"/>
                <a:sym typeface="Open Sauce"/>
              </a:rPr>
              <a:t>Pada tahap ini dilakukan perhitungan rasio antara jumlah kasus HIV dan AIDS di setiap provinsi untuk melihat proporsi penderita HIV yang </a:t>
            </a:r>
            <a:r>
              <a:rPr lang="en-US" sz="2199">
                <a:solidFill>
                  <a:srgbClr val="000000"/>
                </a:solidFill>
                <a:latin typeface="Open Sauce"/>
                <a:ea typeface="Open Sauce"/>
                <a:cs typeface="Open Sauce"/>
                <a:sym typeface="Open Sauce"/>
              </a:rPr>
              <a:t>berkembang</a:t>
            </a:r>
            <a:r>
              <a:rPr lang="en-US" sz="2199">
                <a:solidFill>
                  <a:srgbClr val="000000"/>
                </a:solidFill>
                <a:latin typeface="Open Sauce"/>
                <a:ea typeface="Open Sauce"/>
                <a:cs typeface="Open Sauce"/>
                <a:sym typeface="Open Sauce"/>
              </a:rPr>
              <a:t> menjadi AIDS sebagai indikator awal kualitas penanganan dan keterlambatan diagnosis. Rasio diperoleh dengan membagi jumlah kasus HIV dengan kasus AIDS, kemudian diurutkan dari nilai tertinggi hingga terendah untuk mengidentifikasi provinsi dengan rasio paling menonjol.</a:t>
            </a:r>
          </a:p>
          <a:p>
            <a:pPr algn="just">
              <a:lnSpc>
                <a:spcPts val="362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015925" y="597812"/>
            <a:ext cx="4318702" cy="861776"/>
            <a:chOff x="0" y="0"/>
            <a:chExt cx="999809" cy="199507"/>
          </a:xfrm>
        </p:grpSpPr>
        <p:sp>
          <p:nvSpPr>
            <p:cNvPr name="Freeform 3" id="3"/>
            <p:cNvSpPr/>
            <p:nvPr/>
          </p:nvSpPr>
          <p:spPr>
            <a:xfrm flipH="false" flipV="false" rot="0">
              <a:off x="0" y="0"/>
              <a:ext cx="999809" cy="199507"/>
            </a:xfrm>
            <a:custGeom>
              <a:avLst/>
              <a:gdLst/>
              <a:ahLst/>
              <a:cxnLst/>
              <a:rect r="r" b="b" t="t" l="l"/>
              <a:pathLst>
                <a:path h="199507" w="999809">
                  <a:moveTo>
                    <a:pt x="91425" y="0"/>
                  </a:moveTo>
                  <a:lnTo>
                    <a:pt x="908383" y="0"/>
                  </a:lnTo>
                  <a:cubicBezTo>
                    <a:pt x="932631" y="0"/>
                    <a:pt x="955885" y="9632"/>
                    <a:pt x="973031" y="26778"/>
                  </a:cubicBezTo>
                  <a:cubicBezTo>
                    <a:pt x="990176" y="43923"/>
                    <a:pt x="999809" y="67178"/>
                    <a:pt x="999809" y="91425"/>
                  </a:cubicBezTo>
                  <a:lnTo>
                    <a:pt x="999809" y="108082"/>
                  </a:lnTo>
                  <a:cubicBezTo>
                    <a:pt x="999809" y="132329"/>
                    <a:pt x="990176" y="155584"/>
                    <a:pt x="973031" y="172729"/>
                  </a:cubicBezTo>
                  <a:cubicBezTo>
                    <a:pt x="955885" y="189875"/>
                    <a:pt x="932631" y="199507"/>
                    <a:pt x="908383" y="199507"/>
                  </a:cubicBezTo>
                  <a:lnTo>
                    <a:pt x="91425" y="199507"/>
                  </a:lnTo>
                  <a:cubicBezTo>
                    <a:pt x="67178" y="199507"/>
                    <a:pt x="43923" y="189875"/>
                    <a:pt x="26778" y="172729"/>
                  </a:cubicBezTo>
                  <a:cubicBezTo>
                    <a:pt x="9632" y="155584"/>
                    <a:pt x="0" y="132329"/>
                    <a:pt x="0" y="108082"/>
                  </a:cubicBezTo>
                  <a:lnTo>
                    <a:pt x="0" y="91425"/>
                  </a:lnTo>
                  <a:cubicBezTo>
                    <a:pt x="0" y="67178"/>
                    <a:pt x="9632" y="43923"/>
                    <a:pt x="26778" y="26778"/>
                  </a:cubicBezTo>
                  <a:cubicBezTo>
                    <a:pt x="43923" y="9632"/>
                    <a:pt x="67178" y="0"/>
                    <a:pt x="91425" y="0"/>
                  </a:cubicBezTo>
                  <a:close/>
                </a:path>
              </a:pathLst>
            </a:custGeom>
            <a:solidFill>
              <a:srgbClr val="19345D"/>
            </a:solidFill>
          </p:spPr>
        </p:sp>
        <p:sp>
          <p:nvSpPr>
            <p:cNvPr name="TextBox 4" id="4"/>
            <p:cNvSpPr txBox="true"/>
            <p:nvPr/>
          </p:nvSpPr>
          <p:spPr>
            <a:xfrm>
              <a:off x="0" y="-47625"/>
              <a:ext cx="999809" cy="24713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114166" y="-1219773"/>
            <a:ext cx="2996575" cy="2996575"/>
          </a:xfrm>
          <a:custGeom>
            <a:avLst/>
            <a:gdLst/>
            <a:ahLst/>
            <a:cxnLst/>
            <a:rect r="r" b="b" t="t" l="l"/>
            <a:pathLst>
              <a:path h="2996575" w="2996575">
                <a:moveTo>
                  <a:pt x="0" y="0"/>
                </a:moveTo>
                <a:lnTo>
                  <a:pt x="2996575" y="0"/>
                </a:lnTo>
                <a:lnTo>
                  <a:pt x="2996575" y="2996575"/>
                </a:lnTo>
                <a:lnTo>
                  <a:pt x="0" y="299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42364" y="1887640"/>
            <a:ext cx="8653959" cy="7916507"/>
          </a:xfrm>
          <a:custGeom>
            <a:avLst/>
            <a:gdLst/>
            <a:ahLst/>
            <a:cxnLst/>
            <a:rect r="r" b="b" t="t" l="l"/>
            <a:pathLst>
              <a:path h="7916507" w="8653959">
                <a:moveTo>
                  <a:pt x="0" y="0"/>
                </a:moveTo>
                <a:lnTo>
                  <a:pt x="8653959" y="0"/>
                </a:lnTo>
                <a:lnTo>
                  <a:pt x="8653959" y="7916507"/>
                </a:lnTo>
                <a:lnTo>
                  <a:pt x="0" y="7916507"/>
                </a:lnTo>
                <a:lnTo>
                  <a:pt x="0" y="0"/>
                </a:lnTo>
                <a:close/>
              </a:path>
            </a:pathLst>
          </a:custGeom>
          <a:blipFill>
            <a:blip r:embed="rId4"/>
            <a:stretch>
              <a:fillRect l="0" t="0" r="0" b="0"/>
            </a:stretch>
          </a:blipFill>
        </p:spPr>
      </p:sp>
      <p:sp>
        <p:nvSpPr>
          <p:cNvPr name="TextBox 7" id="7"/>
          <p:cNvSpPr txBox="true"/>
          <p:nvPr/>
        </p:nvSpPr>
        <p:spPr>
          <a:xfrm rot="0">
            <a:off x="1422685" y="641350"/>
            <a:ext cx="3505182" cy="688975"/>
          </a:xfrm>
          <a:prstGeom prst="rect">
            <a:avLst/>
          </a:prstGeom>
        </p:spPr>
        <p:txBody>
          <a:bodyPr anchor="t" rtlCol="false" tIns="0" lIns="0" bIns="0" rIns="0">
            <a:spAutoFit/>
          </a:bodyPr>
          <a:lstStyle/>
          <a:p>
            <a:pPr algn="ctr">
              <a:lnSpc>
                <a:spcPts val="5599"/>
              </a:lnSpc>
              <a:spcBef>
                <a:spcPct val="0"/>
              </a:spcBef>
            </a:pPr>
            <a:r>
              <a:rPr lang="en-US" sz="3999">
                <a:solidFill>
                  <a:srgbClr val="FFFFFF"/>
                </a:solidFill>
                <a:latin typeface="Intro Rust"/>
                <a:ea typeface="Intro Rust"/>
                <a:cs typeface="Intro Rust"/>
                <a:sym typeface="Intro Rust"/>
              </a:rPr>
              <a:t>Visualisasi</a:t>
            </a:r>
          </a:p>
        </p:txBody>
      </p:sp>
      <p:sp>
        <p:nvSpPr>
          <p:cNvPr name="TextBox 8" id="8"/>
          <p:cNvSpPr txBox="true"/>
          <p:nvPr/>
        </p:nvSpPr>
        <p:spPr>
          <a:xfrm rot="0">
            <a:off x="10051065" y="3586897"/>
            <a:ext cx="7208235" cy="3930015"/>
          </a:xfrm>
          <a:prstGeom prst="rect">
            <a:avLst/>
          </a:prstGeom>
        </p:spPr>
        <p:txBody>
          <a:bodyPr anchor="t" rtlCol="false" tIns="0" lIns="0" bIns="0" rIns="0">
            <a:spAutoFit/>
          </a:bodyPr>
          <a:lstStyle/>
          <a:p>
            <a:pPr algn="just">
              <a:lnSpc>
                <a:spcPts val="3959"/>
              </a:lnSpc>
            </a:pPr>
            <a:r>
              <a:rPr lang="en-US" sz="2400">
                <a:solidFill>
                  <a:srgbClr val="000000"/>
                </a:solidFill>
                <a:latin typeface="Open Sauce"/>
                <a:ea typeface="Open Sauce"/>
                <a:cs typeface="Open Sauce"/>
                <a:sym typeface="Open Sauce"/>
              </a:rPr>
              <a:t>Heatmap menunjukkan bahwa jumlah penduduk miskin memiliki korelasi sangat kuat positif dengan kasus HIV (0,91) dan AIDS (0,89). Sebaliknya, rata-rata lama sekolah menunjukkan korelasi sangat lemah, sedangkan indeks TPT hanya memiliki korelasi lemah (~0,3), sehingga pengaruhnya relatif lebih kecil dibandingkan kemiskinan.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758750" y="337319"/>
            <a:ext cx="4318702" cy="861776"/>
            <a:chOff x="0" y="0"/>
            <a:chExt cx="999809" cy="199507"/>
          </a:xfrm>
        </p:grpSpPr>
        <p:sp>
          <p:nvSpPr>
            <p:cNvPr name="Freeform 3" id="3"/>
            <p:cNvSpPr/>
            <p:nvPr/>
          </p:nvSpPr>
          <p:spPr>
            <a:xfrm flipH="false" flipV="false" rot="0">
              <a:off x="0" y="0"/>
              <a:ext cx="999809" cy="199507"/>
            </a:xfrm>
            <a:custGeom>
              <a:avLst/>
              <a:gdLst/>
              <a:ahLst/>
              <a:cxnLst/>
              <a:rect r="r" b="b" t="t" l="l"/>
              <a:pathLst>
                <a:path h="199507" w="999809">
                  <a:moveTo>
                    <a:pt x="91425" y="0"/>
                  </a:moveTo>
                  <a:lnTo>
                    <a:pt x="908383" y="0"/>
                  </a:lnTo>
                  <a:cubicBezTo>
                    <a:pt x="932631" y="0"/>
                    <a:pt x="955885" y="9632"/>
                    <a:pt x="973031" y="26778"/>
                  </a:cubicBezTo>
                  <a:cubicBezTo>
                    <a:pt x="990176" y="43923"/>
                    <a:pt x="999809" y="67178"/>
                    <a:pt x="999809" y="91425"/>
                  </a:cubicBezTo>
                  <a:lnTo>
                    <a:pt x="999809" y="108082"/>
                  </a:lnTo>
                  <a:cubicBezTo>
                    <a:pt x="999809" y="132329"/>
                    <a:pt x="990176" y="155584"/>
                    <a:pt x="973031" y="172729"/>
                  </a:cubicBezTo>
                  <a:cubicBezTo>
                    <a:pt x="955885" y="189875"/>
                    <a:pt x="932631" y="199507"/>
                    <a:pt x="908383" y="199507"/>
                  </a:cubicBezTo>
                  <a:lnTo>
                    <a:pt x="91425" y="199507"/>
                  </a:lnTo>
                  <a:cubicBezTo>
                    <a:pt x="67178" y="199507"/>
                    <a:pt x="43923" y="189875"/>
                    <a:pt x="26778" y="172729"/>
                  </a:cubicBezTo>
                  <a:cubicBezTo>
                    <a:pt x="9632" y="155584"/>
                    <a:pt x="0" y="132329"/>
                    <a:pt x="0" y="108082"/>
                  </a:cubicBezTo>
                  <a:lnTo>
                    <a:pt x="0" y="91425"/>
                  </a:lnTo>
                  <a:cubicBezTo>
                    <a:pt x="0" y="67178"/>
                    <a:pt x="9632" y="43923"/>
                    <a:pt x="26778" y="26778"/>
                  </a:cubicBezTo>
                  <a:cubicBezTo>
                    <a:pt x="43923" y="9632"/>
                    <a:pt x="67178" y="0"/>
                    <a:pt x="91425" y="0"/>
                  </a:cubicBezTo>
                  <a:close/>
                </a:path>
              </a:pathLst>
            </a:custGeom>
            <a:solidFill>
              <a:srgbClr val="19345D"/>
            </a:solidFill>
          </p:spPr>
        </p:sp>
        <p:sp>
          <p:nvSpPr>
            <p:cNvPr name="TextBox 4" id="4"/>
            <p:cNvSpPr txBox="true"/>
            <p:nvPr/>
          </p:nvSpPr>
          <p:spPr>
            <a:xfrm>
              <a:off x="0" y="-47625"/>
              <a:ext cx="999809" cy="24713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114166" y="-1219773"/>
            <a:ext cx="2996575" cy="2996575"/>
          </a:xfrm>
          <a:custGeom>
            <a:avLst/>
            <a:gdLst/>
            <a:ahLst/>
            <a:cxnLst/>
            <a:rect r="r" b="b" t="t" l="l"/>
            <a:pathLst>
              <a:path h="2996575" w="2996575">
                <a:moveTo>
                  <a:pt x="0" y="0"/>
                </a:moveTo>
                <a:lnTo>
                  <a:pt x="2996575" y="0"/>
                </a:lnTo>
                <a:lnTo>
                  <a:pt x="2996575" y="2996575"/>
                </a:lnTo>
                <a:lnTo>
                  <a:pt x="0" y="299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90397" y="1776802"/>
            <a:ext cx="10305619" cy="6612772"/>
          </a:xfrm>
          <a:custGeom>
            <a:avLst/>
            <a:gdLst/>
            <a:ahLst/>
            <a:cxnLst/>
            <a:rect r="r" b="b" t="t" l="l"/>
            <a:pathLst>
              <a:path h="6612772" w="10305619">
                <a:moveTo>
                  <a:pt x="0" y="0"/>
                </a:moveTo>
                <a:lnTo>
                  <a:pt x="10305619" y="0"/>
                </a:lnTo>
                <a:lnTo>
                  <a:pt x="10305619" y="6612772"/>
                </a:lnTo>
                <a:lnTo>
                  <a:pt x="0" y="6612772"/>
                </a:lnTo>
                <a:lnTo>
                  <a:pt x="0" y="0"/>
                </a:lnTo>
                <a:close/>
              </a:path>
            </a:pathLst>
          </a:custGeom>
          <a:blipFill>
            <a:blip r:embed="rId4"/>
            <a:stretch>
              <a:fillRect l="0" t="0" r="0" b="0"/>
            </a:stretch>
          </a:blipFill>
        </p:spPr>
      </p:sp>
      <p:sp>
        <p:nvSpPr>
          <p:cNvPr name="TextBox 7" id="7"/>
          <p:cNvSpPr txBox="true"/>
          <p:nvPr/>
        </p:nvSpPr>
        <p:spPr>
          <a:xfrm rot="0">
            <a:off x="1165510" y="380857"/>
            <a:ext cx="3505182" cy="688975"/>
          </a:xfrm>
          <a:prstGeom prst="rect">
            <a:avLst/>
          </a:prstGeom>
        </p:spPr>
        <p:txBody>
          <a:bodyPr anchor="t" rtlCol="false" tIns="0" lIns="0" bIns="0" rIns="0">
            <a:spAutoFit/>
          </a:bodyPr>
          <a:lstStyle/>
          <a:p>
            <a:pPr algn="ctr">
              <a:lnSpc>
                <a:spcPts val="5599"/>
              </a:lnSpc>
              <a:spcBef>
                <a:spcPct val="0"/>
              </a:spcBef>
            </a:pPr>
            <a:r>
              <a:rPr lang="en-US" sz="3999">
                <a:solidFill>
                  <a:srgbClr val="FFFFFF"/>
                </a:solidFill>
                <a:latin typeface="Intro Rust"/>
                <a:ea typeface="Intro Rust"/>
                <a:cs typeface="Intro Rust"/>
                <a:sym typeface="Intro Rust"/>
              </a:rPr>
              <a:t>Visualisasi</a:t>
            </a:r>
          </a:p>
        </p:txBody>
      </p:sp>
      <p:sp>
        <p:nvSpPr>
          <p:cNvPr name="TextBox 8" id="8"/>
          <p:cNvSpPr txBox="true"/>
          <p:nvPr/>
        </p:nvSpPr>
        <p:spPr>
          <a:xfrm rot="0">
            <a:off x="11148585" y="2586990"/>
            <a:ext cx="6463869" cy="5911215"/>
          </a:xfrm>
          <a:prstGeom prst="rect">
            <a:avLst/>
          </a:prstGeom>
        </p:spPr>
        <p:txBody>
          <a:bodyPr anchor="t" rtlCol="false" tIns="0" lIns="0" bIns="0" rIns="0">
            <a:spAutoFit/>
          </a:bodyPr>
          <a:lstStyle/>
          <a:p>
            <a:pPr algn="just">
              <a:lnSpc>
                <a:spcPts val="3959"/>
              </a:lnSpc>
            </a:pPr>
            <a:r>
              <a:rPr lang="en-US" sz="2399">
                <a:solidFill>
                  <a:srgbClr val="000000"/>
                </a:solidFill>
                <a:latin typeface="Open Sauce"/>
                <a:ea typeface="Open Sauce"/>
                <a:cs typeface="Open Sauce"/>
                <a:sym typeface="Open Sauce"/>
              </a:rPr>
              <a:t>Kasus HIV dan AIDS</a:t>
            </a:r>
            <a:r>
              <a:rPr lang="en-US" sz="2399">
                <a:solidFill>
                  <a:srgbClr val="000000"/>
                </a:solidFill>
                <a:latin typeface="Open Sauce"/>
                <a:ea typeface="Open Sauce"/>
                <a:cs typeface="Open Sauce"/>
                <a:sym typeface="Open Sauce"/>
              </a:rPr>
              <a:t> pada tahun 2024 paling kuat berhubungan dengan tingkat kemiskinan, di mana semakin tinggi kemiskinan maka kasus cenderung meningkat. Tingkat pengangguran menunjukkan hubungan positif sedang, sedangkan rata-rata lama sekolah hanya memiliki hubungan lemah terhadap jumlah kasus.</a:t>
            </a:r>
          </a:p>
          <a:p>
            <a:pPr algn="just">
              <a:lnSpc>
                <a:spcPts val="3959"/>
              </a:lnSpc>
            </a:pPr>
            <a:r>
              <a:rPr lang="en-US" sz="2399">
                <a:solidFill>
                  <a:srgbClr val="000000"/>
                </a:solidFill>
                <a:latin typeface="Open Sauce"/>
                <a:ea typeface="Open Sauce"/>
                <a:cs typeface="Open Sauce"/>
                <a:sym typeface="Open Sauce"/>
              </a:rPr>
              <a:t>.</a:t>
            </a:r>
          </a:p>
          <a:p>
            <a:pPr algn="just">
              <a:lnSpc>
                <a:spcPts val="3959"/>
              </a:lnSpc>
            </a:pPr>
          </a:p>
          <a:p>
            <a:pPr algn="just">
              <a:lnSpc>
                <a:spcPts val="3959"/>
              </a:lnSpc>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4609370" y="607337"/>
            <a:ext cx="9069260" cy="861776"/>
            <a:chOff x="0" y="0"/>
            <a:chExt cx="2099595" cy="199507"/>
          </a:xfrm>
        </p:grpSpPr>
        <p:sp>
          <p:nvSpPr>
            <p:cNvPr name="Freeform 3" id="3"/>
            <p:cNvSpPr/>
            <p:nvPr/>
          </p:nvSpPr>
          <p:spPr>
            <a:xfrm flipH="false" flipV="false" rot="0">
              <a:off x="0" y="0"/>
              <a:ext cx="2099595" cy="199507"/>
            </a:xfrm>
            <a:custGeom>
              <a:avLst/>
              <a:gdLst/>
              <a:ahLst/>
              <a:cxnLst/>
              <a:rect r="r" b="b" t="t" l="l"/>
              <a:pathLst>
                <a:path h="199507" w="2099595">
                  <a:moveTo>
                    <a:pt x="43536" y="0"/>
                  </a:moveTo>
                  <a:lnTo>
                    <a:pt x="2056059" y="0"/>
                  </a:lnTo>
                  <a:cubicBezTo>
                    <a:pt x="2067606" y="0"/>
                    <a:pt x="2078679" y="4587"/>
                    <a:pt x="2086844" y="12751"/>
                  </a:cubicBezTo>
                  <a:cubicBezTo>
                    <a:pt x="2095008" y="20916"/>
                    <a:pt x="2099595" y="31989"/>
                    <a:pt x="2099595" y="43536"/>
                  </a:cubicBezTo>
                  <a:lnTo>
                    <a:pt x="2099595" y="155971"/>
                  </a:lnTo>
                  <a:cubicBezTo>
                    <a:pt x="2099595" y="167517"/>
                    <a:pt x="2095008" y="178591"/>
                    <a:pt x="2086844" y="186756"/>
                  </a:cubicBezTo>
                  <a:cubicBezTo>
                    <a:pt x="2078679" y="194920"/>
                    <a:pt x="2067606" y="199507"/>
                    <a:pt x="2056059" y="199507"/>
                  </a:cubicBezTo>
                  <a:lnTo>
                    <a:pt x="43536" y="199507"/>
                  </a:lnTo>
                  <a:cubicBezTo>
                    <a:pt x="31989" y="199507"/>
                    <a:pt x="20916" y="194920"/>
                    <a:pt x="12751" y="186756"/>
                  </a:cubicBezTo>
                  <a:cubicBezTo>
                    <a:pt x="4587" y="178591"/>
                    <a:pt x="0" y="167517"/>
                    <a:pt x="0" y="155971"/>
                  </a:cubicBezTo>
                  <a:lnTo>
                    <a:pt x="0" y="43536"/>
                  </a:lnTo>
                  <a:cubicBezTo>
                    <a:pt x="0" y="31989"/>
                    <a:pt x="4587" y="20916"/>
                    <a:pt x="12751" y="12751"/>
                  </a:cubicBezTo>
                  <a:cubicBezTo>
                    <a:pt x="20916" y="4587"/>
                    <a:pt x="31989" y="0"/>
                    <a:pt x="43536" y="0"/>
                  </a:cubicBezTo>
                  <a:close/>
                </a:path>
              </a:pathLst>
            </a:custGeom>
            <a:solidFill>
              <a:srgbClr val="EB643E"/>
            </a:solidFill>
          </p:spPr>
        </p:sp>
        <p:sp>
          <p:nvSpPr>
            <p:cNvPr name="TextBox 4" id="4"/>
            <p:cNvSpPr txBox="true"/>
            <p:nvPr/>
          </p:nvSpPr>
          <p:spPr>
            <a:xfrm>
              <a:off x="0" y="-47625"/>
              <a:ext cx="2099595" cy="24713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58726" y="2958653"/>
            <a:ext cx="5058590" cy="5146679"/>
            <a:chOff x="0" y="0"/>
            <a:chExt cx="1171098" cy="1191491"/>
          </a:xfrm>
        </p:grpSpPr>
        <p:sp>
          <p:nvSpPr>
            <p:cNvPr name="Freeform 6" id="6"/>
            <p:cNvSpPr/>
            <p:nvPr/>
          </p:nvSpPr>
          <p:spPr>
            <a:xfrm flipH="false" flipV="false" rot="0">
              <a:off x="0" y="0"/>
              <a:ext cx="1171098" cy="1191491"/>
            </a:xfrm>
            <a:custGeom>
              <a:avLst/>
              <a:gdLst/>
              <a:ahLst/>
              <a:cxnLst/>
              <a:rect r="r" b="b" t="t" l="l"/>
              <a:pathLst>
                <a:path h="1191491" w="1171098">
                  <a:moveTo>
                    <a:pt x="78053" y="0"/>
                  </a:moveTo>
                  <a:lnTo>
                    <a:pt x="1093045" y="0"/>
                  </a:lnTo>
                  <a:cubicBezTo>
                    <a:pt x="1136152" y="0"/>
                    <a:pt x="1171098" y="34945"/>
                    <a:pt x="1171098" y="78053"/>
                  </a:cubicBezTo>
                  <a:lnTo>
                    <a:pt x="1171098" y="1113438"/>
                  </a:lnTo>
                  <a:cubicBezTo>
                    <a:pt x="1171098" y="1156545"/>
                    <a:pt x="1136152" y="1191491"/>
                    <a:pt x="1093045" y="1191491"/>
                  </a:cubicBezTo>
                  <a:lnTo>
                    <a:pt x="78053" y="1191491"/>
                  </a:lnTo>
                  <a:cubicBezTo>
                    <a:pt x="34945" y="1191491"/>
                    <a:pt x="0" y="1156545"/>
                    <a:pt x="0" y="1113438"/>
                  </a:cubicBezTo>
                  <a:lnTo>
                    <a:pt x="0" y="78053"/>
                  </a:lnTo>
                  <a:cubicBezTo>
                    <a:pt x="0" y="34945"/>
                    <a:pt x="34945" y="0"/>
                    <a:pt x="78053" y="0"/>
                  </a:cubicBezTo>
                  <a:close/>
                </a:path>
              </a:pathLst>
            </a:custGeom>
            <a:solidFill>
              <a:srgbClr val="FFFFFF"/>
            </a:solidFill>
          </p:spPr>
        </p:sp>
        <p:sp>
          <p:nvSpPr>
            <p:cNvPr name="TextBox 7" id="7"/>
            <p:cNvSpPr txBox="true"/>
            <p:nvPr/>
          </p:nvSpPr>
          <p:spPr>
            <a:xfrm>
              <a:off x="0" y="-47625"/>
              <a:ext cx="1171098" cy="1239116"/>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flipV="true">
            <a:off x="-337341" y="9613788"/>
            <a:ext cx="1366041" cy="0"/>
          </a:xfrm>
          <a:prstGeom prst="line">
            <a:avLst/>
          </a:prstGeom>
          <a:ln cap="flat" w="19050">
            <a:solidFill>
              <a:srgbClr val="19345D"/>
            </a:solidFill>
            <a:prstDash val="solid"/>
            <a:headEnd type="none" len="sm" w="sm"/>
            <a:tailEnd type="none" len="sm" w="sm"/>
          </a:ln>
        </p:spPr>
      </p:sp>
      <p:sp>
        <p:nvSpPr>
          <p:cNvPr name="AutoShape 9" id="9"/>
          <p:cNvSpPr/>
          <p:nvPr/>
        </p:nvSpPr>
        <p:spPr>
          <a:xfrm>
            <a:off x="17259300" y="1038225"/>
            <a:ext cx="1366041" cy="0"/>
          </a:xfrm>
          <a:prstGeom prst="line">
            <a:avLst/>
          </a:prstGeom>
          <a:ln cap="flat" w="19050">
            <a:solidFill>
              <a:srgbClr val="19345D"/>
            </a:solidFill>
            <a:prstDash val="solid"/>
            <a:headEnd type="none" len="sm" w="sm"/>
            <a:tailEnd type="none" len="sm" w="sm"/>
          </a:ln>
        </p:spPr>
      </p:sp>
      <p:sp>
        <p:nvSpPr>
          <p:cNvPr name="TextBox 10" id="10"/>
          <p:cNvSpPr txBox="true"/>
          <p:nvPr/>
        </p:nvSpPr>
        <p:spPr>
          <a:xfrm rot="0">
            <a:off x="4779120" y="696913"/>
            <a:ext cx="8729760" cy="606425"/>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Intro Rust"/>
                <a:ea typeface="Intro Rust"/>
                <a:cs typeface="Intro Rust"/>
                <a:sym typeface="Intro Rust"/>
              </a:rPr>
              <a:t>Kendala &amp; rencana tindak lanjut</a:t>
            </a:r>
          </a:p>
        </p:txBody>
      </p:sp>
      <p:sp>
        <p:nvSpPr>
          <p:cNvPr name="TextBox 11" id="11"/>
          <p:cNvSpPr txBox="true"/>
          <p:nvPr/>
        </p:nvSpPr>
        <p:spPr>
          <a:xfrm rot="0">
            <a:off x="9953078" y="2114993"/>
            <a:ext cx="5669887"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Quicksand Bold"/>
                <a:ea typeface="Quicksand Bold"/>
                <a:cs typeface="Quicksand Bold"/>
                <a:sym typeface="Quicksand Bold"/>
              </a:rPr>
              <a:t>Rencana Tindak Lanjut</a:t>
            </a:r>
          </a:p>
        </p:txBody>
      </p:sp>
      <p:sp>
        <p:nvSpPr>
          <p:cNvPr name="TextBox 12" id="12"/>
          <p:cNvSpPr txBox="true"/>
          <p:nvPr/>
        </p:nvSpPr>
        <p:spPr>
          <a:xfrm rot="0">
            <a:off x="10603096" y="3215290"/>
            <a:ext cx="4369850" cy="2335528"/>
          </a:xfrm>
          <a:prstGeom prst="rect">
            <a:avLst/>
          </a:prstGeom>
        </p:spPr>
        <p:txBody>
          <a:bodyPr anchor="t" rtlCol="false" tIns="0" lIns="0" bIns="0" rIns="0">
            <a:spAutoFit/>
          </a:bodyPr>
          <a:lstStyle/>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Mena</a:t>
            </a:r>
            <a:r>
              <a:rPr lang="en-US" sz="2300">
                <a:solidFill>
                  <a:srgbClr val="000000"/>
                </a:solidFill>
                <a:latin typeface="Open Sauce"/>
                <a:ea typeface="Open Sauce"/>
                <a:cs typeface="Open Sauce"/>
                <a:sym typeface="Open Sauce"/>
              </a:rPr>
              <a:t>mbah variabel sosial ekonomi tambahan</a:t>
            </a:r>
          </a:p>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Clustering provinsi</a:t>
            </a:r>
          </a:p>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Model prediksi dengan Regresi</a:t>
            </a:r>
          </a:p>
        </p:txBody>
      </p:sp>
      <p:sp>
        <p:nvSpPr>
          <p:cNvPr name="TextBox 13" id="13"/>
          <p:cNvSpPr txBox="true"/>
          <p:nvPr/>
        </p:nvSpPr>
        <p:spPr>
          <a:xfrm rot="0">
            <a:off x="2580198" y="2237520"/>
            <a:ext cx="5669887"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Quicksand Bold"/>
                <a:ea typeface="Quicksand Bold"/>
                <a:cs typeface="Quicksand Bold"/>
                <a:sym typeface="Quicksand Bold"/>
              </a:rPr>
              <a:t>Kendala Pengerjaan</a:t>
            </a:r>
          </a:p>
        </p:txBody>
      </p:sp>
      <p:grpSp>
        <p:nvGrpSpPr>
          <p:cNvPr name="Group 14" id="14"/>
          <p:cNvGrpSpPr/>
          <p:nvPr/>
        </p:nvGrpSpPr>
        <p:grpSpPr>
          <a:xfrm rot="0">
            <a:off x="2885846" y="3081180"/>
            <a:ext cx="5058590" cy="5146679"/>
            <a:chOff x="0" y="0"/>
            <a:chExt cx="1171098" cy="1191491"/>
          </a:xfrm>
        </p:grpSpPr>
        <p:sp>
          <p:nvSpPr>
            <p:cNvPr name="Freeform 15" id="15"/>
            <p:cNvSpPr/>
            <p:nvPr/>
          </p:nvSpPr>
          <p:spPr>
            <a:xfrm flipH="false" flipV="false" rot="0">
              <a:off x="0" y="0"/>
              <a:ext cx="1171098" cy="1191491"/>
            </a:xfrm>
            <a:custGeom>
              <a:avLst/>
              <a:gdLst/>
              <a:ahLst/>
              <a:cxnLst/>
              <a:rect r="r" b="b" t="t" l="l"/>
              <a:pathLst>
                <a:path h="1191491" w="1171098">
                  <a:moveTo>
                    <a:pt x="78053" y="0"/>
                  </a:moveTo>
                  <a:lnTo>
                    <a:pt x="1093045" y="0"/>
                  </a:lnTo>
                  <a:cubicBezTo>
                    <a:pt x="1136152" y="0"/>
                    <a:pt x="1171098" y="34945"/>
                    <a:pt x="1171098" y="78053"/>
                  </a:cubicBezTo>
                  <a:lnTo>
                    <a:pt x="1171098" y="1113438"/>
                  </a:lnTo>
                  <a:cubicBezTo>
                    <a:pt x="1171098" y="1156545"/>
                    <a:pt x="1136152" y="1191491"/>
                    <a:pt x="1093045" y="1191491"/>
                  </a:cubicBezTo>
                  <a:lnTo>
                    <a:pt x="78053" y="1191491"/>
                  </a:lnTo>
                  <a:cubicBezTo>
                    <a:pt x="34945" y="1191491"/>
                    <a:pt x="0" y="1156545"/>
                    <a:pt x="0" y="1113438"/>
                  </a:cubicBezTo>
                  <a:lnTo>
                    <a:pt x="0" y="78053"/>
                  </a:lnTo>
                  <a:cubicBezTo>
                    <a:pt x="0" y="34945"/>
                    <a:pt x="34945" y="0"/>
                    <a:pt x="78053" y="0"/>
                  </a:cubicBezTo>
                  <a:close/>
                </a:path>
              </a:pathLst>
            </a:custGeom>
            <a:solidFill>
              <a:srgbClr val="FFFFFF"/>
            </a:solidFill>
          </p:spPr>
        </p:sp>
        <p:sp>
          <p:nvSpPr>
            <p:cNvPr name="TextBox 16" id="16"/>
            <p:cNvSpPr txBox="true"/>
            <p:nvPr/>
          </p:nvSpPr>
          <p:spPr>
            <a:xfrm>
              <a:off x="0" y="-47625"/>
              <a:ext cx="1171098" cy="1239116"/>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3364865" y="3337817"/>
            <a:ext cx="4301876" cy="4240528"/>
          </a:xfrm>
          <a:prstGeom prst="rect">
            <a:avLst/>
          </a:prstGeom>
        </p:spPr>
        <p:txBody>
          <a:bodyPr anchor="t" rtlCol="false" tIns="0" lIns="0" bIns="0" rIns="0">
            <a:spAutoFit/>
          </a:bodyPr>
          <a:lstStyle/>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Sulit menemukan dataset lengkap untuk 38 prov</a:t>
            </a:r>
            <a:r>
              <a:rPr lang="en-US" sz="2300">
                <a:solidFill>
                  <a:srgbClr val="000000"/>
                </a:solidFill>
                <a:latin typeface="Open Sauce"/>
                <a:ea typeface="Open Sauce"/>
                <a:cs typeface="Open Sauce"/>
                <a:sym typeface="Open Sauce"/>
              </a:rPr>
              <a:t>insi.</a:t>
            </a:r>
          </a:p>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Format file berbeda-beda</a:t>
            </a:r>
          </a:p>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Struktur tabel PDF tidak rapi</a:t>
            </a:r>
          </a:p>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Penamaan provinsi tidak konsisten </a:t>
            </a:r>
          </a:p>
          <a:p>
            <a:pPr algn="l" marL="496579" indent="-248289" lvl="1">
              <a:lnSpc>
                <a:spcPts val="3795"/>
              </a:lnSpc>
              <a:buFont typeface="Arial"/>
              <a:buChar char="•"/>
            </a:pPr>
            <a:r>
              <a:rPr lang="en-US" sz="2300">
                <a:solidFill>
                  <a:srgbClr val="000000"/>
                </a:solidFill>
                <a:latin typeface="Open Sauce"/>
                <a:ea typeface="Open Sauce"/>
                <a:cs typeface="Open Sauce"/>
                <a:sym typeface="Open Sauce"/>
              </a:rPr>
              <a:t>Format angka tidak seragam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351071" y="1261386"/>
            <a:ext cx="15618875" cy="7996914"/>
            <a:chOff x="0" y="0"/>
            <a:chExt cx="3615875" cy="1851339"/>
          </a:xfrm>
        </p:grpSpPr>
        <p:sp>
          <p:nvSpPr>
            <p:cNvPr name="Freeform 3" id="3"/>
            <p:cNvSpPr/>
            <p:nvPr/>
          </p:nvSpPr>
          <p:spPr>
            <a:xfrm flipH="false" flipV="false" rot="0">
              <a:off x="0" y="0"/>
              <a:ext cx="3615875" cy="1851340"/>
            </a:xfrm>
            <a:custGeom>
              <a:avLst/>
              <a:gdLst/>
              <a:ahLst/>
              <a:cxnLst/>
              <a:rect r="r" b="b" t="t" l="l"/>
              <a:pathLst>
                <a:path h="1851340" w="3615875">
                  <a:moveTo>
                    <a:pt x="25280" y="0"/>
                  </a:moveTo>
                  <a:lnTo>
                    <a:pt x="3590595" y="0"/>
                  </a:lnTo>
                  <a:cubicBezTo>
                    <a:pt x="3604557" y="0"/>
                    <a:pt x="3615875" y="11318"/>
                    <a:pt x="3615875" y="25280"/>
                  </a:cubicBezTo>
                  <a:lnTo>
                    <a:pt x="3615875" y="1826060"/>
                  </a:lnTo>
                  <a:cubicBezTo>
                    <a:pt x="3615875" y="1832764"/>
                    <a:pt x="3613211" y="1839195"/>
                    <a:pt x="3608470" y="1843935"/>
                  </a:cubicBezTo>
                  <a:cubicBezTo>
                    <a:pt x="3603730" y="1848676"/>
                    <a:pt x="3597300" y="1851340"/>
                    <a:pt x="3590595" y="1851340"/>
                  </a:cubicBezTo>
                  <a:lnTo>
                    <a:pt x="25280" y="1851340"/>
                  </a:lnTo>
                  <a:cubicBezTo>
                    <a:pt x="18575" y="1851340"/>
                    <a:pt x="12145" y="1848676"/>
                    <a:pt x="7404" y="1843935"/>
                  </a:cubicBezTo>
                  <a:cubicBezTo>
                    <a:pt x="2663" y="1839195"/>
                    <a:pt x="0" y="1832764"/>
                    <a:pt x="0" y="1826060"/>
                  </a:cubicBezTo>
                  <a:lnTo>
                    <a:pt x="0" y="25280"/>
                  </a:lnTo>
                  <a:cubicBezTo>
                    <a:pt x="0" y="18575"/>
                    <a:pt x="2663" y="12145"/>
                    <a:pt x="7404" y="7404"/>
                  </a:cubicBezTo>
                  <a:cubicBezTo>
                    <a:pt x="12145" y="2663"/>
                    <a:pt x="18575" y="0"/>
                    <a:pt x="25280" y="0"/>
                  </a:cubicBezTo>
                  <a:close/>
                </a:path>
              </a:pathLst>
            </a:custGeom>
            <a:solidFill>
              <a:srgbClr val="FFFFFF"/>
            </a:solidFill>
          </p:spPr>
        </p:sp>
        <p:sp>
          <p:nvSpPr>
            <p:cNvPr name="TextBox 4" id="4"/>
            <p:cNvSpPr txBox="true"/>
            <p:nvPr/>
          </p:nvSpPr>
          <p:spPr>
            <a:xfrm>
              <a:off x="0" y="-47625"/>
              <a:ext cx="3615875" cy="189896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701281" y="578026"/>
            <a:ext cx="1846199" cy="1874314"/>
          </a:xfrm>
          <a:custGeom>
            <a:avLst/>
            <a:gdLst/>
            <a:ahLst/>
            <a:cxnLst/>
            <a:rect r="r" b="b" t="t" l="l"/>
            <a:pathLst>
              <a:path h="1874314" w="1846199">
                <a:moveTo>
                  <a:pt x="0" y="0"/>
                </a:moveTo>
                <a:lnTo>
                  <a:pt x="1846199" y="0"/>
                </a:lnTo>
                <a:lnTo>
                  <a:pt x="1846199" y="1874314"/>
                </a:lnTo>
                <a:lnTo>
                  <a:pt x="0" y="18743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933784" y="1429458"/>
            <a:ext cx="6420432" cy="762001"/>
          </a:xfrm>
          <a:prstGeom prst="rect">
            <a:avLst/>
          </a:prstGeom>
        </p:spPr>
        <p:txBody>
          <a:bodyPr anchor="t" rtlCol="false" tIns="0" lIns="0" bIns="0" rIns="0">
            <a:spAutoFit/>
          </a:bodyPr>
          <a:lstStyle/>
          <a:p>
            <a:pPr algn="ctr">
              <a:lnSpc>
                <a:spcPts val="6299"/>
              </a:lnSpc>
              <a:spcBef>
                <a:spcPct val="0"/>
              </a:spcBef>
            </a:pPr>
            <a:r>
              <a:rPr lang="en-US" sz="4499">
                <a:solidFill>
                  <a:srgbClr val="19345D"/>
                </a:solidFill>
                <a:latin typeface="Intro Rust"/>
                <a:ea typeface="Intro Rust"/>
                <a:cs typeface="Intro Rust"/>
                <a:sym typeface="Intro Rust"/>
              </a:rPr>
              <a:t>Kesimpulan</a:t>
            </a:r>
          </a:p>
        </p:txBody>
      </p:sp>
      <p:sp>
        <p:nvSpPr>
          <p:cNvPr name="TextBox 7" id="7"/>
          <p:cNvSpPr txBox="true"/>
          <p:nvPr/>
        </p:nvSpPr>
        <p:spPr>
          <a:xfrm rot="0">
            <a:off x="2119519" y="2695918"/>
            <a:ext cx="14048961" cy="5070700"/>
          </a:xfrm>
          <a:prstGeom prst="rect">
            <a:avLst/>
          </a:prstGeom>
        </p:spPr>
        <p:txBody>
          <a:bodyPr anchor="t" rtlCol="false" tIns="0" lIns="0" bIns="0" rIns="0">
            <a:spAutoFit/>
          </a:bodyPr>
          <a:lstStyle/>
          <a:p>
            <a:pPr algn="just">
              <a:lnSpc>
                <a:spcPts val="5062"/>
              </a:lnSpc>
              <a:spcBef>
                <a:spcPct val="0"/>
              </a:spcBef>
            </a:pPr>
            <a:r>
              <a:rPr lang="en-US" sz="3616">
                <a:solidFill>
                  <a:srgbClr val="000000"/>
                </a:solidFill>
                <a:latin typeface="Quicksand"/>
                <a:ea typeface="Quicksand"/>
                <a:cs typeface="Quicksand"/>
                <a:sym typeface="Quicksand"/>
              </a:rPr>
              <a:t>Faktor sosial ekonomi berhubungan dengan variasi kasus HIV/AIDS di Indonesia tahun 2024. Kemiskinan memiliki hubungan paling kuat, diikuti oleh pengangguran, sementara rata-rata lama sekolah menunjukkan hubungan yang lebih lemah karena pengaruhnya bersifat tidak langsung. Oleh karena itu, upaya penanggulangan HIV/AIDS perlu dilakukan secara komprehensif melalui pengentasan kemiskinan, penurunan pengangguran, serta penguatan literasi dan akses layanan kesehatan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2370458" y="7696363"/>
            <a:ext cx="10259944" cy="1025994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1864341" y="606501"/>
            <a:ext cx="3728681" cy="3655327"/>
          </a:xfrm>
          <a:custGeom>
            <a:avLst/>
            <a:gdLst/>
            <a:ahLst/>
            <a:cxnLst/>
            <a:rect r="r" b="b" t="t" l="l"/>
            <a:pathLst>
              <a:path h="3655327" w="3728681">
                <a:moveTo>
                  <a:pt x="0" y="0"/>
                </a:moveTo>
                <a:lnTo>
                  <a:pt x="3728682" y="0"/>
                </a:lnTo>
                <a:lnTo>
                  <a:pt x="3728682" y="3655328"/>
                </a:lnTo>
                <a:lnTo>
                  <a:pt x="0" y="3655328"/>
                </a:lnTo>
                <a:lnTo>
                  <a:pt x="0" y="0"/>
                </a:lnTo>
                <a:close/>
              </a:path>
            </a:pathLst>
          </a:custGeom>
          <a:blipFill>
            <a:blip r:embed="rId2"/>
            <a:stretch>
              <a:fillRect l="-1125" t="0" r="-1125" b="0"/>
            </a:stretch>
          </a:blipFill>
        </p:spPr>
      </p:sp>
      <p:sp>
        <p:nvSpPr>
          <p:cNvPr name="Freeform 6" id="6"/>
          <p:cNvSpPr/>
          <p:nvPr/>
        </p:nvSpPr>
        <p:spPr>
          <a:xfrm flipH="false" flipV="false" rot="0">
            <a:off x="14917396" y="6889761"/>
            <a:ext cx="2099005" cy="2099005"/>
          </a:xfrm>
          <a:custGeom>
            <a:avLst/>
            <a:gdLst/>
            <a:ahLst/>
            <a:cxnLst/>
            <a:rect r="r" b="b" t="t" l="l"/>
            <a:pathLst>
              <a:path h="2099005" w="2099005">
                <a:moveTo>
                  <a:pt x="0" y="0"/>
                </a:moveTo>
                <a:lnTo>
                  <a:pt x="2099004" y="0"/>
                </a:lnTo>
                <a:lnTo>
                  <a:pt x="2099004" y="2099004"/>
                </a:lnTo>
                <a:lnTo>
                  <a:pt x="0" y="2099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7185521" y="6075211"/>
            <a:ext cx="3916958" cy="0"/>
          </a:xfrm>
          <a:prstGeom prst="line">
            <a:avLst/>
          </a:prstGeom>
          <a:ln cap="flat" w="19050">
            <a:solidFill>
              <a:srgbClr val="19345D"/>
            </a:solidFill>
            <a:prstDash val="solid"/>
            <a:headEnd type="none" len="sm" w="sm"/>
            <a:tailEnd type="none" len="sm" w="sm"/>
          </a:ln>
        </p:spPr>
      </p:sp>
      <p:sp>
        <p:nvSpPr>
          <p:cNvPr name="TextBox 8" id="8"/>
          <p:cNvSpPr txBox="true"/>
          <p:nvPr/>
        </p:nvSpPr>
        <p:spPr>
          <a:xfrm rot="0">
            <a:off x="2882429" y="3850427"/>
            <a:ext cx="12523142" cy="1717676"/>
          </a:xfrm>
          <a:prstGeom prst="rect">
            <a:avLst/>
          </a:prstGeom>
        </p:spPr>
        <p:txBody>
          <a:bodyPr anchor="t" rtlCol="false" tIns="0" lIns="0" bIns="0" rIns="0">
            <a:spAutoFit/>
          </a:bodyPr>
          <a:lstStyle/>
          <a:p>
            <a:pPr algn="ctr">
              <a:lnSpc>
                <a:spcPts val="13999"/>
              </a:lnSpc>
              <a:spcBef>
                <a:spcPct val="0"/>
              </a:spcBef>
            </a:pPr>
            <a:r>
              <a:rPr lang="en-US" sz="9999">
                <a:solidFill>
                  <a:srgbClr val="19345D"/>
                </a:solidFill>
                <a:latin typeface="Intro Rust"/>
                <a:ea typeface="Intro Rust"/>
                <a:cs typeface="Intro Rust"/>
                <a:sym typeface="Intro Rust"/>
              </a:rPr>
              <a:t>Terima Kasih</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BCEAFF"/>
        </a:solidFill>
      </p:bgPr>
    </p:bg>
    <p:spTree>
      <p:nvGrpSpPr>
        <p:cNvPr id="1" name=""/>
        <p:cNvGrpSpPr/>
        <p:nvPr/>
      </p:nvGrpSpPr>
      <p:grpSpPr>
        <a:xfrm>
          <a:off x="0" y="0"/>
          <a:ext cx="0" cy="0"/>
          <a:chOff x="0" y="0"/>
          <a:chExt cx="0" cy="0"/>
        </a:xfrm>
      </p:grpSpPr>
      <p:grpSp>
        <p:nvGrpSpPr>
          <p:cNvPr name="Group 2" id="2"/>
          <p:cNvGrpSpPr/>
          <p:nvPr/>
        </p:nvGrpSpPr>
        <p:grpSpPr>
          <a:xfrm rot="0">
            <a:off x="1351071" y="1261386"/>
            <a:ext cx="15618875" cy="7996914"/>
            <a:chOff x="0" y="0"/>
            <a:chExt cx="3615875" cy="1851339"/>
          </a:xfrm>
        </p:grpSpPr>
        <p:sp>
          <p:nvSpPr>
            <p:cNvPr name="Freeform 3" id="3"/>
            <p:cNvSpPr/>
            <p:nvPr/>
          </p:nvSpPr>
          <p:spPr>
            <a:xfrm flipH="false" flipV="false" rot="0">
              <a:off x="0" y="0"/>
              <a:ext cx="3615875" cy="1851340"/>
            </a:xfrm>
            <a:custGeom>
              <a:avLst/>
              <a:gdLst/>
              <a:ahLst/>
              <a:cxnLst/>
              <a:rect r="r" b="b" t="t" l="l"/>
              <a:pathLst>
                <a:path h="1851340" w="3615875">
                  <a:moveTo>
                    <a:pt x="25280" y="0"/>
                  </a:moveTo>
                  <a:lnTo>
                    <a:pt x="3590595" y="0"/>
                  </a:lnTo>
                  <a:cubicBezTo>
                    <a:pt x="3604557" y="0"/>
                    <a:pt x="3615875" y="11318"/>
                    <a:pt x="3615875" y="25280"/>
                  </a:cubicBezTo>
                  <a:lnTo>
                    <a:pt x="3615875" y="1826060"/>
                  </a:lnTo>
                  <a:cubicBezTo>
                    <a:pt x="3615875" y="1832764"/>
                    <a:pt x="3613211" y="1839195"/>
                    <a:pt x="3608470" y="1843935"/>
                  </a:cubicBezTo>
                  <a:cubicBezTo>
                    <a:pt x="3603730" y="1848676"/>
                    <a:pt x="3597300" y="1851340"/>
                    <a:pt x="3590595" y="1851340"/>
                  </a:cubicBezTo>
                  <a:lnTo>
                    <a:pt x="25280" y="1851340"/>
                  </a:lnTo>
                  <a:cubicBezTo>
                    <a:pt x="18575" y="1851340"/>
                    <a:pt x="12145" y="1848676"/>
                    <a:pt x="7404" y="1843935"/>
                  </a:cubicBezTo>
                  <a:cubicBezTo>
                    <a:pt x="2663" y="1839195"/>
                    <a:pt x="0" y="1832764"/>
                    <a:pt x="0" y="1826060"/>
                  </a:cubicBezTo>
                  <a:lnTo>
                    <a:pt x="0" y="25280"/>
                  </a:lnTo>
                  <a:cubicBezTo>
                    <a:pt x="0" y="18575"/>
                    <a:pt x="2663" y="12145"/>
                    <a:pt x="7404" y="7404"/>
                  </a:cubicBezTo>
                  <a:cubicBezTo>
                    <a:pt x="12145" y="2663"/>
                    <a:pt x="18575" y="0"/>
                    <a:pt x="25280" y="0"/>
                  </a:cubicBezTo>
                  <a:close/>
                </a:path>
              </a:pathLst>
            </a:custGeom>
            <a:solidFill>
              <a:srgbClr val="FFFFFF"/>
            </a:solidFill>
          </p:spPr>
        </p:sp>
        <p:sp>
          <p:nvSpPr>
            <p:cNvPr name="TextBox 4" id="4"/>
            <p:cNvSpPr txBox="true"/>
            <p:nvPr/>
          </p:nvSpPr>
          <p:spPr>
            <a:xfrm>
              <a:off x="0" y="-47625"/>
              <a:ext cx="3615875" cy="189896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678959" y="578026"/>
            <a:ext cx="1846199" cy="1874314"/>
          </a:xfrm>
          <a:custGeom>
            <a:avLst/>
            <a:gdLst/>
            <a:ahLst/>
            <a:cxnLst/>
            <a:rect r="r" b="b" t="t" l="l"/>
            <a:pathLst>
              <a:path h="1874314" w="1846199">
                <a:moveTo>
                  <a:pt x="0" y="0"/>
                </a:moveTo>
                <a:lnTo>
                  <a:pt x="1846199" y="0"/>
                </a:lnTo>
                <a:lnTo>
                  <a:pt x="1846199" y="1874314"/>
                </a:lnTo>
                <a:lnTo>
                  <a:pt x="0" y="18743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950293" y="2366615"/>
            <a:ext cx="6420432" cy="762001"/>
          </a:xfrm>
          <a:prstGeom prst="rect">
            <a:avLst/>
          </a:prstGeom>
        </p:spPr>
        <p:txBody>
          <a:bodyPr anchor="t" rtlCol="false" tIns="0" lIns="0" bIns="0" rIns="0">
            <a:spAutoFit/>
          </a:bodyPr>
          <a:lstStyle/>
          <a:p>
            <a:pPr algn="ctr">
              <a:lnSpc>
                <a:spcPts val="6299"/>
              </a:lnSpc>
              <a:spcBef>
                <a:spcPct val="0"/>
              </a:spcBef>
            </a:pPr>
            <a:r>
              <a:rPr lang="en-US" sz="4499">
                <a:solidFill>
                  <a:srgbClr val="19345D"/>
                </a:solidFill>
                <a:latin typeface="Intro Rust"/>
                <a:ea typeface="Intro Rust"/>
                <a:cs typeface="Intro Rust"/>
                <a:sym typeface="Intro Rust"/>
              </a:rPr>
              <a:t>Lampiran</a:t>
            </a:r>
          </a:p>
        </p:txBody>
      </p:sp>
      <p:sp>
        <p:nvSpPr>
          <p:cNvPr name="TextBox 7" id="7"/>
          <p:cNvSpPr txBox="true"/>
          <p:nvPr/>
        </p:nvSpPr>
        <p:spPr>
          <a:xfrm rot="0">
            <a:off x="2136028" y="4656368"/>
            <a:ext cx="14048961" cy="603475"/>
          </a:xfrm>
          <a:prstGeom prst="rect">
            <a:avLst/>
          </a:prstGeom>
        </p:spPr>
        <p:txBody>
          <a:bodyPr anchor="t" rtlCol="false" tIns="0" lIns="0" bIns="0" rIns="0">
            <a:spAutoFit/>
          </a:bodyPr>
          <a:lstStyle/>
          <a:p>
            <a:pPr algn="ctr">
              <a:lnSpc>
                <a:spcPts val="5062"/>
              </a:lnSpc>
              <a:spcBef>
                <a:spcPct val="0"/>
              </a:spcBef>
            </a:pPr>
            <a:r>
              <a:rPr lang="en-US" b="true" sz="3616" u="sng">
                <a:solidFill>
                  <a:srgbClr val="1C4C81"/>
                </a:solidFill>
                <a:latin typeface="Quicksand Bold"/>
                <a:ea typeface="Quicksand Bold"/>
                <a:cs typeface="Quicksand Bold"/>
                <a:sym typeface="Quicksand Bold"/>
                <a:hlinkClick r:id="rId4" tooltip="https://colab.research.google.com/drive/10vMy0Q1iQNwihAEJUi0NXBZSw9qiSWSz?usp=sharing"/>
              </a:rPr>
              <a:t>Link Colab Kelompok 26 Data Wrangling 24C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DAG426fGHg8</dc:identifier>
  <dcterms:modified xsi:type="dcterms:W3CDTF">2011-08-01T06:04:30Z</dcterms:modified>
  <cp:revision>1</cp:revision>
  <dc:title>PPT KELOMPOK 26</dc:title>
</cp:coreProperties>
</file>